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1"/>
  </p:normalViewPr>
  <p:slideViewPr>
    <p:cSldViewPr snapToGrid="0">
      <p:cViewPr varScale="1">
        <p:scale>
          <a:sx n="115" d="100"/>
          <a:sy n="115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收入增量贡献</c:v>
          </c:tx>
          <c:spPr>
            <a:solidFill>
              <a:srgbClr val="823C42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B7B3AF"/>
              </a:solidFill>
            </c:spPr>
            <c:extLst>
              <c:ext xmlns:c16="http://schemas.microsoft.com/office/drawing/2014/chart" uri="{C3380CC4-5D6E-409C-BE32-E72D297353CC}">
                <c16:uniqueId val="{00000001-ABDA-D546-B08D-CA3578C5D944}"/>
              </c:ext>
            </c:extLst>
          </c:dPt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025">
                    <a:solidFill>
                      <a:srgbClr val="242323"/>
                    </a:solidFill>
                    <a:latin typeface="Times New Roman"/>
                    <a:ea typeface="SimSun"/>
                    <a:cs typeface="Times New Roman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客单价</c:v>
                </c:pt>
                <c:pt idx="1">
                  <c:v>购买频次</c:v>
                </c:pt>
                <c:pt idx="2">
                  <c:v>购买客户数</c:v>
                </c:pt>
              </c:strCache>
            </c:strRef>
          </c:cat>
          <c:val>
            <c:numRef>
              <c:f>'Chart Data'!$B$2:$B$4</c:f>
              <c:numCache>
                <c:formatCode>0.00%</c:formatCode>
                <c:ptCount val="3"/>
                <c:pt idx="0">
                  <c:v>2.3900000000000001E-2</c:v>
                </c:pt>
                <c:pt idx="1">
                  <c:v>0.42580000000000001</c:v>
                </c:pt>
                <c:pt idx="2">
                  <c:v>0.55030000000000001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ABDA-D546-B08D-CA3578C5D94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0">
            <a:noFill/>
          </a:ln>
        </c:spPr>
        <c:txPr>
          <a:bodyPr anchorCtr="1"/>
          <a:lstStyle/>
          <a:p>
            <a:pPr>
              <a:defRPr sz="1875" b="0">
                <a:solidFill>
                  <a:srgbClr val="242323"/>
                </a:solidFill>
                <a:latin typeface="Times New Roman"/>
                <a:ea typeface="SimSun"/>
                <a:cs typeface="Times New Roman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65"/>
          <c:min val="0"/>
        </c:scaling>
        <c:delete val="1"/>
        <c:axPos val="b"/>
        <c:numFmt formatCode="0%" sourceLinked="0"/>
        <c:majorTickMark val="none"/>
        <c:minorTickMark val="none"/>
        <c:tickLblPos val="none"/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1800" b="0">
          <a:solidFill>
            <a:srgbClr val="242323"/>
          </a:solidFill>
          <a:latin typeface="Times New Roman"/>
          <a:ea typeface="SimSun"/>
          <a:cs typeface="Times New Roman"/>
        </a:defRPr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收入占比</c:v>
          </c:tx>
          <c:spPr>
            <a:solidFill>
              <a:srgbClr val="B7B3AF"/>
            </a:solidFill>
          </c:spPr>
          <c:invertIfNegative val="1"/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solidFill>
                      <a:srgbClr val="242323"/>
                    </a:solidFill>
                    <a:latin typeface="Times New Roman"/>
                    <a:ea typeface="SimSun"/>
                    <a:cs typeface="Times New Roman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Data'!$A$2:$A$7</c:f>
              <c:strCache>
                <c:ptCount val="6"/>
                <c:pt idx="0">
                  <c:v>Other Categories</c:v>
                </c:pt>
                <c:pt idx="1">
                  <c:v>Footwear</c:v>
                </c:pt>
                <c:pt idx="2">
                  <c:v>Fashion</c:v>
                </c:pt>
                <c:pt idx="3">
                  <c:v>Home &amp; Kitchen</c:v>
                </c:pt>
                <c:pt idx="4">
                  <c:v>Appliances</c:v>
                </c:pt>
                <c:pt idx="5">
                  <c:v>Electronics</c:v>
                </c:pt>
              </c:strCache>
            </c:strRef>
          </c:cat>
          <c:val>
            <c:numRef>
              <c:f>'Chart Data'!$B$2:$B$7</c:f>
              <c:numCache>
                <c:formatCode>0.00%</c:formatCode>
                <c:ptCount val="6"/>
                <c:pt idx="0">
                  <c:v>0.1802</c:v>
                </c:pt>
                <c:pt idx="1">
                  <c:v>3.2800000000000003E-2</c:v>
                </c:pt>
                <c:pt idx="2">
                  <c:v>5.6300000000000003E-2</c:v>
                </c:pt>
                <c:pt idx="3">
                  <c:v>6.4299999999999996E-2</c:v>
                </c:pt>
                <c:pt idx="4">
                  <c:v>0.16769999999999999</c:v>
                </c:pt>
                <c:pt idx="5">
                  <c:v>0.49859999999999999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0D2-D74F-B9D4-519FBD15541B}"/>
            </c:ext>
          </c:extLst>
        </c:ser>
        <c:ser>
          <c:idx val="1"/>
          <c:order val="1"/>
          <c:tx>
            <c:v>毛利占比</c:v>
          </c:tx>
          <c:spPr>
            <a:solidFill>
              <a:srgbClr val="823C42"/>
            </a:solidFill>
          </c:spPr>
          <c:invertIfNegative val="1"/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solidFill>
                      <a:srgbClr val="242323"/>
                    </a:solidFill>
                    <a:latin typeface="Times New Roman"/>
                    <a:ea typeface="SimSun"/>
                    <a:cs typeface="Times New Roman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Data'!$C$2:$C$7</c:f>
              <c:strCache>
                <c:ptCount val="6"/>
                <c:pt idx="0">
                  <c:v>Other Categories</c:v>
                </c:pt>
                <c:pt idx="1">
                  <c:v>Footwear</c:v>
                </c:pt>
                <c:pt idx="2">
                  <c:v>Fashion</c:v>
                </c:pt>
                <c:pt idx="3">
                  <c:v>Home &amp; Kitchen</c:v>
                </c:pt>
                <c:pt idx="4">
                  <c:v>Appliances</c:v>
                </c:pt>
                <c:pt idx="5">
                  <c:v>Electronics</c:v>
                </c:pt>
              </c:strCache>
            </c:strRef>
          </c:cat>
          <c:val>
            <c:numRef>
              <c:f>'Chart Data'!$D$2:$D$7</c:f>
              <c:numCache>
                <c:formatCode>0.00%</c:formatCode>
                <c:ptCount val="6"/>
                <c:pt idx="0">
                  <c:v>0.3705</c:v>
                </c:pt>
                <c:pt idx="1">
                  <c:v>0.1179</c:v>
                </c:pt>
                <c:pt idx="2">
                  <c:v>0.2288</c:v>
                </c:pt>
                <c:pt idx="3">
                  <c:v>0.14169999999999999</c:v>
                </c:pt>
                <c:pt idx="4">
                  <c:v>8.1799999999999998E-2</c:v>
                </c:pt>
                <c:pt idx="5">
                  <c:v>5.9299999999999999E-2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0D2-D74F-B9D4-519FBD15541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3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0">
            <a:noFill/>
          </a:ln>
        </c:spPr>
        <c:txPr>
          <a:bodyPr anchorCtr="1"/>
          <a:lstStyle/>
          <a:p>
            <a:pPr>
              <a:defRPr sz="1800" b="0">
                <a:solidFill>
                  <a:srgbClr val="242323"/>
                </a:solidFill>
                <a:latin typeface="Times New Roman"/>
                <a:ea typeface="SimSun"/>
                <a:cs typeface="Times New Roman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57999999999999996"/>
          <c:min val="0"/>
        </c:scaling>
        <c:delete val="1"/>
        <c:axPos val="b"/>
        <c:numFmt formatCode="0%" sourceLinked="0"/>
        <c:majorTickMark val="none"/>
        <c:minorTickMark val="none"/>
        <c:tickLblPos val="none"/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t"/>
      <c:overlay val="0"/>
      <c:txPr>
        <a:bodyPr anchorCtr="1"/>
        <a:lstStyle/>
        <a:p>
          <a:pPr>
            <a:defRPr sz="1725">
              <a:solidFill>
                <a:srgbClr val="242323"/>
              </a:solidFill>
              <a:latin typeface="Times New Roman"/>
              <a:ea typeface="SimSun"/>
              <a:cs typeface="Times New Roman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1800" b="0">
          <a:solidFill>
            <a:srgbClr val="242323"/>
          </a:solidFill>
          <a:latin typeface="Times New Roman"/>
          <a:ea typeface="SimSun"/>
          <a:cs typeface="Times New Roman"/>
        </a:defRPr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v>Electronics</c:v>
          </c:tx>
          <c:spPr>
            <a:solidFill>
              <a:srgbClr val="823C42"/>
            </a:solidFill>
          </c:spPr>
          <c:invertIfNegative val="1"/>
          <c:dLbls>
            <c:numFmt formatCode="0.0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025">
                    <a:solidFill>
                      <a:srgbClr val="FFFFFF"/>
                    </a:solidFill>
                    <a:latin typeface="Times New Roman"/>
                    <a:ea typeface="SimSun"/>
                    <a:cs typeface="Times New Roman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亏损金额占比</c:v>
                </c:pt>
                <c:pt idx="1">
                  <c:v>亏损SKU数量占比</c:v>
                </c:pt>
              </c:strCache>
            </c:strRef>
          </c:cat>
          <c:val>
            <c:numRef>
              <c:f>'Chart Data'!$B$2:$B$3</c:f>
              <c:numCache>
                <c:formatCode>0.00%</c:formatCode>
                <c:ptCount val="2"/>
                <c:pt idx="0">
                  <c:v>0.96440000000000003</c:v>
                </c:pt>
                <c:pt idx="1">
                  <c:v>0.54545454545500005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3F9-B542-BC0C-BED05AE6666D}"/>
            </c:ext>
          </c:extLst>
        </c:ser>
        <c:ser>
          <c:idx val="1"/>
          <c:order val="1"/>
          <c:tx>
            <c:v>其他品类</c:v>
          </c:tx>
          <c:spPr>
            <a:solidFill>
              <a:srgbClr val="B7B3AF"/>
            </a:solidFill>
          </c:spPr>
          <c:invertIfNegative val="1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3F9-B542-BC0C-BED05AE6666D}"/>
                </c:ext>
              </c:extLst>
            </c:dLbl>
            <c:numFmt formatCode="0.0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025" b="0">
                    <a:solidFill>
                      <a:srgbClr val="242323"/>
                    </a:solidFill>
                    <a:latin typeface="Times New Roman"/>
                    <a:ea typeface="SimSun"/>
                    <a:cs typeface="Times New Roman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亏损金额占比</c:v>
                </c:pt>
                <c:pt idx="1">
                  <c:v>亏损SKU数量占比</c:v>
                </c:pt>
              </c:strCache>
            </c:strRef>
          </c:cat>
          <c:val>
            <c:numRef>
              <c:f>'Chart Data'!$D$2:$D$3</c:f>
              <c:numCache>
                <c:formatCode>0.00%</c:formatCode>
                <c:ptCount val="2"/>
                <c:pt idx="0">
                  <c:v>3.56E-2</c:v>
                </c:pt>
                <c:pt idx="1">
                  <c:v>0.45454545454500001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63F9-B542-BC0C-BED05AE6666D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9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low"/>
        <c:spPr>
          <a:ln w="0">
            <a:noFill/>
          </a:ln>
        </c:spPr>
        <c:txPr>
          <a:bodyPr anchorCtr="1"/>
          <a:lstStyle/>
          <a:p>
            <a:pPr>
              <a:defRPr sz="1875" b="0">
                <a:solidFill>
                  <a:srgbClr val="242323"/>
                </a:solidFill>
                <a:latin typeface="Times New Roman"/>
                <a:ea typeface="SimSun"/>
                <a:cs typeface="Times New Roman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1"/>
        <c:axPos val="b"/>
        <c:numFmt formatCode="0%" sourceLinked="0"/>
        <c:majorTickMark val="none"/>
        <c:minorTickMark val="none"/>
        <c:tickLblPos val="none"/>
        <c:crossAx val="48650112"/>
        <c:crosses val="autoZero"/>
        <c:crossBetween val="between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725">
              <a:solidFill>
                <a:srgbClr val="242323"/>
              </a:solidFill>
              <a:latin typeface="Times New Roman"/>
              <a:ea typeface="SimSun"/>
              <a:cs typeface="Times New Roman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txPr>
    <a:bodyPr/>
    <a:lstStyle/>
    <a:p>
      <a:pPr>
        <a:defRPr sz="1800" b="0">
          <a:solidFill>
            <a:srgbClr val="242323"/>
          </a:solidFill>
          <a:latin typeface="Times New Roman"/>
          <a:ea typeface="SimSun"/>
          <a:cs typeface="Times New Roman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Times New Roman"/>
        <a:ea typeface="SimSun"/>
        <a:cs typeface="Times New Roman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统一口径：按order_date对齐2025/2024全年，订单状态为当前快照，仅纳入Delivered交易。Revenue不含税和运费；商品毛利仅扣item_cost，不是净利润。年度净亏损SKU是年度累计商品毛利小于零的SKU；亏损占比以全品类年度净亏损SKU亏损金额绝对值之和为分母。金额与比例由未四舍五入值计算，展示值可能存在舍入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统一口径：按order_date对齐2025/2024全年，订单状态为当前快照，仅纳入Delivered交易。Revenue不含税和运费；商品毛利仅扣item_cost，不是净利润。年度净亏损SKU是年度累计商品毛利小于零的SKU；亏损占比以全品类年度净亏损SKU亏损金额绝对值之和为分母。金额与比例由未四舍五入值计算，展示值可能存在舍入差异。</a:t>
            </a:r>
          </a:p>
          <a:p>
            <a:r>
              <a:t>97.61%为55.03%与42.58%的合计展示值，不是营销活动的因果效果。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统一口径：按order_date对齐2025/2024全年，订单状态为当前快照，仅纳入Delivered交易。Revenue不含税和运费；商品毛利仅扣item_cost，不是净利润。年度净亏损SKU是年度累计商品毛利小于零的SKU；亏损占比以全品类年度净亏损SKU亏损金额绝对值之和为分母。金额与比例由未四舍五入值计算，展示值可能存在舍入差异。</a:t>
            </a:r>
          </a:p>
          <a:p>
            <a:r>
              <a:t>金额单位：百万INR。毛利率变化按未四舍五入值计算。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统一口径：按order_date对齐2025/2024全年，订单状态为当前快照，仅纳入Delivered交易。Revenue不含税和运费；商品毛利仅扣item_cost，不是净利润。年度净亏损SKU是年度累计商品毛利小于零的SKU；亏损占比以全品类年度净亏损SKU亏损金额绝对值之和为分母。金额与比例由未四舍五入值计算，展示值可能存在舍入差异。</a:t>
            </a:r>
          </a:p>
          <a:p>
            <a:r>
              <a:t>Shapley分解说明数量构成，不能据此验证具体营销策略的效果。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统一口径：按order_date对齐2025/2024全年，订单状态为当前快照，仅纳入Delivered交易。Revenue不含税和运费；商品毛利仅扣item_cost，不是净利润。年度净亏损SKU是年度累计商品毛利小于零的SKU；亏损占比以全品类年度净亏损SKU亏损金额绝对值之和为分母。金额与比例由未四舍五入值计算，展示值可能存在舍入差异。</a:t>
            </a:r>
          </a:p>
          <a:p>
            <a:r>
              <a:t>本页描述品类收入与毛利贡献的差异，不主张整体毛利率恶化，也不推断调整销售结构必然增加毛利。</a:t>
            </a:r>
          </a:p>
          <a:p>
            <a:r>
              <a:t>占比分别以全品类收入、全品类商品毛利为分母。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统一口径：按order_date对齐2025/2024全年，订单状态为当前快照，仅纳入Delivered交易。Revenue不含税和运费；商品毛利仅扣item_cost，不是净利润。年度净亏损SKU是年度累计商品毛利小于零的SKU；亏损占比以全品类年度净亏损SKU亏损金额绝对值之和为分母。金额与比例由未四舍五入值计算，展示值可能存在舍入差异。</a:t>
            </a:r>
          </a:p>
          <a:p>
            <a:r>
              <a:t>商品毛利仅扣商品成本。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统一口径：按order_date对齐2025/2024全年，订单状态为当前快照，仅纳入Delivered交易。Revenue不含税和运费；商品毛利仅扣item_cost，不是净利润。年度净亏损SKU是年度累计商品毛利小于零的SKU；亏损占比以全品类年度净亏损SKU亏损金额绝对值之和为分母。金额与比例由未四舍五入值计算，展示值可能存在舍入差异。</a:t>
            </a:r>
          </a:p>
          <a:p>
            <a:r>
              <a:t>亏损总额为年度净亏损SKU亏损金额绝对值之和。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统一口径：按order_date对齐2025/2024全年，订单状态为当前快照，仅纳入Delivered交易。Revenue不含税和运费；商品毛利仅扣item_cost，不是净利润。年度净亏损SKU是年度累计商品毛利小于零的SKU；亏损占比以全品类年度净亏损SKU亏损金额绝对值之和为分母。金额与比例由未四舍五入值计算，展示值可能存在舍入差异。</a:t>
            </a:r>
          </a:p>
          <a:p>
            <a:r>
              <a:t>69.27−64.89=4.38（百万INR）是2025年整个Electronics品类的金额分解；下方18/18是年度净亏损SKU检验，二者范围不同。折前基准保持实际成交数量和单价不变，不是取消折扣后的收入或毛利预测。年度金额检验不代表每一笔交易都亏损，优惠叠加、规则配置等具体运营原因仍需逐笔核查。</a:t>
            </a:r>
          </a:p>
          <a:p>
            <a:r>
              <a:t>年度金额分解不代表每笔成交均亏损，也不等于无折扣盈利预测。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统一口径：按order_date对齐2025/2024全年，订单状态为当前快照，仅纳入Delivered交易。Revenue不含税和运费；商品毛利仅扣item_cost，不是净利润。年度净亏损SKU是年度累计商品毛利小于零的SKU；亏损占比以全品类年度净亏损SKU亏损金额绝对值之和为分母。金额与比例由未四舍五入值计算，展示值可能存在舍入差异。</a:t>
            </a:r>
          </a:p>
          <a:p>
            <a:r>
              <a:t>前五SKU覆盖76.73%的年度净亏损，不代表调整折扣即可追回同等毛利。</a:t>
            </a:r>
          </a:p>
          <a:p>
            <a:r>
              <a:t>累计贡献分母为全品类年度净亏损总额，覆盖比例不代表可追回毛利。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动作及监控方法是建议，尚无整改后的观测结果。</a:t>
            </a:r>
          </a:p>
          <a:p>
            <a:r>
              <a:t>仅纳入order_date在2025-01-01（含）至2026-01-01（不含），且当前order_status为Delivered的交易；order_id以many-to-one方式关联，避免重复聚合。</a:t>
            </a:r>
          </a:p>
          <a:p>
            <a:r>
              <a:t>计算：B=Σ(quantity×unit_price)，R=Σ(item_revenue)，C=Σ(item_cost)。实际加权折扣率d=1−R/B；商品成本盈亏平衡折扣率d*=1−C/B；商品毛利GP=R−C=B(d*−d)。B&gt;0且范围一致时，d&lt;d*为正毛利，d=d*为零毛利，d&gt;d*为负毛利。这里的折扣率表示折让比例，不是“打几折”。</a:t>
            </a:r>
          </a:p>
          <a:p>
            <a:r>
              <a:t>“≈”表示接近平衡线的定性预警，不是已设定的数值告警规则。精确等于时商品毛利为0；接近区间及目标毛利须由业务另行确定。聚合结论不代表每笔交易都具有同一毛利状况。</a:t>
            </a:r>
          </a:p>
          <a:p>
            <a:r>
              <a:t>表格为2025年全年历史基线，不是当前促销的统一或固定折扣上限。每次活动上线前，应按实际交易商品成本及折前售价核定阈值；监控时按同一SKU和同一期间重算d和d*，价格、成本或销售组合变化后须更新。只覆盖商品成本，未覆盖物流、营销等其他费用。</a:t>
            </a:r>
          </a:p>
          <a:p>
            <a:r>
              <a:t>执行建议：对超线SKU先逐笔核查商品成本、成交收入与优惠来源；确认亏损后暂停追加折扣、重新核定活动价格，记录责任人、动作和日期。先处理前五，再扩展到18个Electronics年度亏损SKU。</a:t>
            </a:r>
          </a:p>
          <a:p>
            <a:r>
              <a:t>监控建议：按SKU每周复查，并比较调整前后等长窗口的毛利、毛利率、收入和销量；折扣差额=d−d*，以百分点表达。未成交SKU不计算折扣率或毛利率、不算作整改转正。</a:t>
            </a:r>
          </a:p>
          <a:p>
            <a:r>
              <a:t>“亏损金额”在监控中指当期五个目标SKU亏损绝对值之和，即Σmax(−当期SKU商品毛利,0)，用于避免盈利SKU掩盖其他SKU亏损；不是要求2025年累计历史亏损被追回。</a:t>
            </a:r>
          </a:p>
          <a:p>
            <a:r>
              <a:t>收入/销量用于识别调整代价，不将前后变化直接归因于折扣调整；条件允许再设置小范围试行与对照。资料不足以给出促销折扣上限、黄色预警带或收入/销量下降容忍度，需业务另行确认。</a:t>
            </a:r>
          </a:p>
          <a:p>
            <a:r>
              <a:t>以下为重新计算的未四舍五入金额与比率：</a:t>
            </a:r>
          </a:p>
          <a:p>
            <a:r>
              <a:t>PROD10445：折前收入基准=30265410.00 INR，收入=25975695.90 INR，商品成本=27241158.57 INR，商品毛利=-1265462.67 INR；d*=9.9924350273%，d=14.1736526946%，超线=4.1812176673 pp。</a:t>
            </a:r>
          </a:p>
          <a:p>
            <a:r>
              <a:t>PROD10501：折前收入基准=17246250.00 INR，收入=14969285.10 INR，商品成本=15746861.25 INR，商品毛利=-777576.15 INR；d*=8.6939986954%，d=13.2026666667%，超线=4.5086679713 pp。</a:t>
            </a:r>
          </a:p>
          <a:p>
            <a:r>
              <a:t>PROD10306：折前收入基准=23262120.00 INR，收入=20352074.40 INR，商品成本=21106337.76 INR，商品毛利=-754263.36 INR；d*=9.2673506972%，d=12.5098039216%，超线=3.2424532244 pp。</a:t>
            </a:r>
          </a:p>
          <a:p>
            <a:r>
              <a:t>PROD10072：折前收入基准=14393260.00 INR，收入=12474364.80 INR，商品成本=13128840.97 INR，商品毛利=-654476.17 INR；d*=8.7847994825%，d=13.3319011815%，超线=4.5471016990 pp。</a:t>
            </a:r>
          </a:p>
          <a:p>
            <a:r>
              <a:t>PROD10421：折前收入基准=21059820.00 INR，收入=18443337.30 INR，商品成本=18989786.16 INR，商品毛利=-546448.86 INR；d*=9.8293045240%，d=12.4240506329%，超线=2.5947461089 pp。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Times New Roman"/>
          <a:ea typeface="SimSun"/>
          <a:cs typeface="Times New Roman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Times New Roman"/>
          <a:ea typeface="SimSun"/>
          <a:cs typeface="Times New Roman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Times New Roman"/>
          <a:ea typeface="SimSun"/>
          <a:cs typeface="Times New Roman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Times New Roman"/>
          <a:ea typeface="SimSun"/>
          <a:cs typeface="Times New Roman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SimSun"/>
          <a:cs typeface="Times New Roman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SimSun"/>
          <a:cs typeface="Times New Roman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SimSun"/>
          <a:cs typeface="Times New Roman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SimSun"/>
          <a:cs typeface="Times New Roman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SimSun"/>
          <a:cs typeface="Times New Roman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SimSun"/>
          <a:cs typeface="Times New Roman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Times New Roman"/>
          <a:ea typeface="SimSun"/>
          <a:cs typeface="Times New Roman"/>
        </a:defRPr>
      </a:lvl1pPr>
      <a:lvl2pPr marL="457200" algn="l">
        <a:buNone/>
        <a:defRPr sz="1800">
          <a:solidFill>
            <a:schemeClr val="tx1"/>
          </a:solidFill>
          <a:latin typeface="Times New Roman"/>
          <a:ea typeface="SimSun"/>
          <a:cs typeface="Times New Roman"/>
        </a:defRPr>
      </a:lvl2pPr>
      <a:lvl3pPr marL="914400" algn="l">
        <a:buNone/>
        <a:defRPr sz="1800">
          <a:solidFill>
            <a:schemeClr val="tx1"/>
          </a:solidFill>
          <a:latin typeface="Times New Roman"/>
          <a:ea typeface="SimSun"/>
          <a:cs typeface="Times New Roman"/>
        </a:defRPr>
      </a:lvl3pPr>
      <a:lvl4pPr marL="1371600" algn="l">
        <a:buNone/>
        <a:defRPr sz="1800">
          <a:solidFill>
            <a:schemeClr val="tx1"/>
          </a:solidFill>
          <a:latin typeface="Times New Roman"/>
          <a:ea typeface="SimSun"/>
          <a:cs typeface="Times New Roman"/>
        </a:defRPr>
      </a:lvl4pPr>
      <a:lvl5pPr marL="1828800" algn="l">
        <a:buNone/>
        <a:defRPr sz="1800">
          <a:solidFill>
            <a:schemeClr val="tx1"/>
          </a:solidFill>
          <a:latin typeface="Times New Roman"/>
          <a:ea typeface="SimSun"/>
          <a:cs typeface="Times New Roman"/>
        </a:defRPr>
      </a:lvl5pPr>
      <a:lvl6pPr marL="2286000" algn="l">
        <a:buNone/>
        <a:defRPr sz="1800">
          <a:solidFill>
            <a:schemeClr val="tx1"/>
          </a:solidFill>
          <a:latin typeface="Times New Roman"/>
          <a:ea typeface="SimSun"/>
          <a:cs typeface="Times New Roman"/>
        </a:defRPr>
      </a:lvl6pPr>
      <a:lvl7pPr marL="2743200" algn="l">
        <a:buNone/>
        <a:defRPr sz="1800">
          <a:solidFill>
            <a:schemeClr val="tx1"/>
          </a:solidFill>
          <a:latin typeface="Times New Roman"/>
          <a:ea typeface="SimSun"/>
          <a:cs typeface="Times New Roman"/>
        </a:defRPr>
      </a:lvl7pPr>
      <a:lvl8pPr marL="3200400" algn="l">
        <a:buNone/>
        <a:defRPr sz="1800">
          <a:solidFill>
            <a:schemeClr val="tx1"/>
          </a:solidFill>
          <a:latin typeface="Times New Roman"/>
          <a:ea typeface="SimSun"/>
          <a:cs typeface="Times New Roman"/>
        </a:defRPr>
      </a:lvl8pPr>
      <a:lvl9pPr marL="3657600" algn="l">
        <a:buNone/>
        <a:defRPr sz="1800">
          <a:solidFill>
            <a:schemeClr val="tx1"/>
          </a:solidFill>
          <a:latin typeface="Times New Roman"/>
          <a:ea typeface="SimSun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328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2025">
            <a:extLst>
              <a:ext uri="{FF2B5EF4-FFF2-40B4-BE49-F238E27FC236}">
                <a16:creationId xmlns:a16="http://schemas.microsoft.com/office/drawing/2014/main" id="{7C60B1E9-31AE-4E95-BB15-93D6395F07EF}"/>
              </a:ext>
            </a:extLst>
          </p:cNvPr>
          <p:cNvSpPr>
            <a:spLocks noGrp="1"/>
          </p:cNvSpPr>
          <p:nvPr/>
        </p:nvSpPr>
        <p:spPr>
          <a:xfrm>
            <a:off x="685800" y="762000"/>
            <a:ext cx="4762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225" b="0">
                <a:solidFill>
                  <a:srgbClr val="D7C9CC"/>
                </a:solidFill>
                <a:latin typeface="Times New Roman"/>
                <a:ea typeface="SimSun"/>
                <a:cs typeface="Times New Roman"/>
              </a:defRPr>
            </a:pPr>
            <a:r>
              <a:rPr sz="3225" b="0">
                <a:solidFill>
                  <a:srgbClr val="D7C9CC"/>
                </a:solidFill>
                <a:latin typeface="Times New Roman"/>
                <a:ea typeface="SimSun"/>
                <a:cs typeface="Times New Roman"/>
              </a:rPr>
              <a:t>2025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A430693-F940-470B-9C48-6D345BA34771}"/>
              </a:ext>
            </a:extLst>
          </p:cNvPr>
          <p:cNvSpPr>
            <a:spLocks noGrp="1"/>
          </p:cNvSpPr>
          <p:nvPr/>
        </p:nvSpPr>
        <p:spPr>
          <a:xfrm>
            <a:off x="666750" y="2333625"/>
            <a:ext cx="10572750" cy="1847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5100" b="0">
                <a:solidFill>
                  <a:srgbClr val="FFFFFF"/>
                </a:solidFill>
                <a:latin typeface="Times New Roman"/>
                <a:ea typeface="SimSun"/>
                <a:cs typeface="Times New Roman"/>
              </a:defRPr>
            </a:pPr>
            <a:r>
              <a:rPr sz="5100" b="0">
                <a:solidFill>
                  <a:srgbClr val="FFFFFF"/>
                </a:solidFill>
                <a:latin typeface="Times New Roman"/>
                <a:ea typeface="SimSun"/>
                <a:cs typeface="Times New Roman"/>
              </a:rPr>
              <a:t>电商增长质量</a:t>
            </a:r>
          </a:p>
          <a:p>
            <a:pPr algn="l">
              <a:defRPr sz="5100" b="0">
                <a:solidFill>
                  <a:srgbClr val="FFFFFF"/>
                </a:solidFill>
                <a:latin typeface="Times New Roman"/>
                <a:ea typeface="SimSun"/>
                <a:cs typeface="Times New Roman"/>
              </a:defRPr>
            </a:pPr>
            <a:r>
              <a:rPr sz="5100" b="0">
                <a:solidFill>
                  <a:srgbClr val="FFFFFF"/>
                </a:solidFill>
                <a:latin typeface="Times New Roman"/>
                <a:ea typeface="SimSun"/>
                <a:cs typeface="Times New Roman"/>
              </a:rPr>
              <a:t>与商品盈利分析</a:t>
            </a:r>
          </a:p>
        </p:txBody>
      </p:sp>
      <p:sp>
        <p:nvSpPr>
          <p:cNvPr id="3" name="Indian E-Commerce">
            <a:extLst>
              <a:ext uri="{FF2B5EF4-FFF2-40B4-BE49-F238E27FC236}">
                <a16:creationId xmlns:a16="http://schemas.microsoft.com/office/drawing/2014/main" id="{55513A1A-D86C-446B-BD04-0DEBDBB27C1D}"/>
              </a:ext>
            </a:extLst>
          </p:cNvPr>
          <p:cNvSpPr>
            <a:spLocks noGrp="1"/>
          </p:cNvSpPr>
          <p:nvPr/>
        </p:nvSpPr>
        <p:spPr>
          <a:xfrm>
            <a:off x="704850" y="4857750"/>
            <a:ext cx="857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0">
                <a:solidFill>
                  <a:srgbClr val="FFFFFF"/>
                </a:solidFill>
                <a:latin typeface="Times New Roman"/>
                <a:ea typeface="SimSun"/>
                <a:cs typeface="Times New Roman"/>
              </a:defRPr>
            </a:pPr>
            <a:r>
              <a:rPr sz="2250" b="0">
                <a:solidFill>
                  <a:srgbClr val="FFFFFF"/>
                </a:solidFill>
                <a:latin typeface="Times New Roman"/>
                <a:ea typeface="SimSun"/>
                <a:cs typeface="Times New Roman"/>
              </a:rPr>
              <a:t>Indian E-Commerce</a:t>
            </a:r>
          </a:p>
        </p:txBody>
      </p:sp>
      <p:sp>
        <p:nvSpPr>
          <p:cNvPr id="4" name="2025 vs 2024    Delivered Orde">
            <a:extLst>
              <a:ext uri="{FF2B5EF4-FFF2-40B4-BE49-F238E27FC236}">
                <a16:creationId xmlns:a16="http://schemas.microsoft.com/office/drawing/2014/main" id="{781B1383-1AB8-49D1-8D90-BB0CD0CA7C00}"/>
              </a:ext>
            </a:extLst>
          </p:cNvPr>
          <p:cNvSpPr>
            <a:spLocks noGrp="1"/>
          </p:cNvSpPr>
          <p:nvPr/>
        </p:nvSpPr>
        <p:spPr>
          <a:xfrm>
            <a:off x="704850" y="5381625"/>
            <a:ext cx="9429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D7C9CC"/>
                </a:solidFill>
                <a:latin typeface="Times New Roman"/>
                <a:ea typeface="SimSun"/>
                <a:cs typeface="Times New Roman"/>
              </a:defRPr>
            </a:pPr>
            <a:r>
              <a:rPr sz="1800" b="0">
                <a:solidFill>
                  <a:srgbClr val="D7C9CC"/>
                </a:solidFill>
                <a:latin typeface="Times New Roman"/>
                <a:ea typeface="SimSun"/>
                <a:cs typeface="Times New Roman"/>
              </a:rPr>
              <a:t>2025 vs 2024    Delivered Orders</a:t>
            </a:r>
          </a:p>
        </p:txBody>
      </p:sp>
    </p:spTree>
    <p:extLst>
      <p:ext uri="{BB962C8B-B14F-4D97-AF65-F5344CB8AC3E}">
        <p14:creationId xmlns:p14="http://schemas.microsoft.com/office/powerpoint/2010/main" val="1360860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DE7C203F-1509-4E81-8565-DFC84612029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823C42"/>
                </a:solidFill>
                <a:latin typeface="Times New Roman"/>
                <a:ea typeface="SimSun"/>
                <a:cs typeface="Times New Roman"/>
              </a:defRPr>
            </a:pPr>
            <a:r>
              <a:rPr sz="3150" b="1">
                <a:solidFill>
                  <a:srgbClr val="823C42"/>
                </a:solidFill>
                <a:latin typeface="Times New Roman"/>
                <a:ea typeface="SimSun"/>
                <a:cs typeface="Times New Roman"/>
              </a:rPr>
              <a:t>Key Findings</a:t>
            </a:r>
          </a:p>
        </p:txBody>
      </p:sp>
      <p:sp>
        <p:nvSpPr>
          <p:cNvPr id="2" name="口径：2025年Delivered交易。亏损指年度净亏损SK">
            <a:extLst>
              <a:ext uri="{FF2B5EF4-FFF2-40B4-BE49-F238E27FC236}">
                <a16:creationId xmlns:a16="http://schemas.microsoft.com/office/drawing/2014/main" id="{B97E8E71-A45D-4FB0-AA18-DE89E7F44479}"/>
              </a:ext>
            </a:extLst>
          </p:cNvPr>
          <p:cNvSpPr>
            <a:spLocks noGrp="1"/>
          </p:cNvSpPr>
          <p:nvPr/>
        </p:nvSpPr>
        <p:spPr>
          <a:xfrm>
            <a:off x="647700" y="6305550"/>
            <a:ext cx="103632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12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12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口径：2025年Delivered交易。亏损指年度净亏损SKU的商品毛利亏损。</a:t>
            </a:r>
          </a:p>
        </p:txBody>
      </p:sp>
      <p:sp>
        <p:nvSpPr>
          <p:cNvPr id="3" name="02">
            <a:extLst>
              <a:ext uri="{FF2B5EF4-FFF2-40B4-BE49-F238E27FC236}">
                <a16:creationId xmlns:a16="http://schemas.microsoft.com/office/drawing/2014/main" id="{788FDB73-53F4-4CE5-BDA2-24D83A8EA9E7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381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2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02</a:t>
            </a:r>
          </a:p>
        </p:txBody>
      </p:sp>
      <p:sp>
        <p:nvSpPr>
          <p:cNvPr id="5" name="01">
            <a:extLst>
              <a:ext uri="{FF2B5EF4-FFF2-40B4-BE49-F238E27FC236}">
                <a16:creationId xmlns:a16="http://schemas.microsoft.com/office/drawing/2014/main" id="{0350623C-5F36-4147-B22B-F67A7273AF03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5905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0">
                <a:solidFill>
                  <a:srgbClr val="823C42"/>
                </a:solidFill>
                <a:latin typeface="Times New Roman"/>
                <a:ea typeface="SimSun"/>
                <a:cs typeface="Times New Roman"/>
              </a:defRPr>
            </a:pPr>
            <a:r>
              <a:rPr sz="2700" b="0">
                <a:solidFill>
                  <a:srgbClr val="823C42"/>
                </a:solidFill>
                <a:latin typeface="Times New Roman"/>
                <a:ea typeface="SimSun"/>
                <a:cs typeface="Times New Roman"/>
              </a:rPr>
              <a:t>01</a:t>
            </a:r>
          </a:p>
        </p:txBody>
      </p:sp>
      <p:sp>
        <p:nvSpPr>
          <p:cNvPr id="6" name="客户规模与购买频次构成主要收入增量">
            <a:extLst>
              <a:ext uri="{FF2B5EF4-FFF2-40B4-BE49-F238E27FC236}">
                <a16:creationId xmlns:a16="http://schemas.microsoft.com/office/drawing/2014/main" id="{A6176B10-9A8D-48EC-901A-CFA6F71516FF}"/>
              </a:ext>
            </a:extLst>
          </p:cNvPr>
          <p:cNvSpPr>
            <a:spLocks noGrp="1"/>
          </p:cNvSpPr>
          <p:nvPr/>
        </p:nvSpPr>
        <p:spPr>
          <a:xfrm>
            <a:off x="1485900" y="1666875"/>
            <a:ext cx="99631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42323"/>
                </a:solidFill>
                <a:latin typeface="Times New Roman"/>
                <a:ea typeface="SimSun"/>
                <a:cs typeface="Times New Roman"/>
              </a:defRPr>
            </a:pPr>
            <a:r>
              <a:rPr sz="2250" b="1">
                <a:solidFill>
                  <a:srgbClr val="242323"/>
                </a:solidFill>
                <a:latin typeface="Times New Roman"/>
                <a:ea typeface="SimSun"/>
                <a:cs typeface="Times New Roman"/>
              </a:rPr>
              <a:t>客户规模与购买频次构成主要收入增量</a:t>
            </a:r>
          </a:p>
        </p:txBody>
      </p:sp>
      <p:sp>
        <p:nvSpPr>
          <p:cNvPr id="7" name="收入同比增长68.16%，客户规模与购买频次分别贡献&#10;55.">
            <a:extLst>
              <a:ext uri="{FF2B5EF4-FFF2-40B4-BE49-F238E27FC236}">
                <a16:creationId xmlns:a16="http://schemas.microsoft.com/office/drawing/2014/main" id="{117DFC25-4F60-4518-A8B0-8949FDA15596}"/>
              </a:ext>
            </a:extLst>
          </p:cNvPr>
          <p:cNvSpPr>
            <a:spLocks noGrp="1"/>
          </p:cNvSpPr>
          <p:nvPr/>
        </p:nvSpPr>
        <p:spPr>
          <a:xfrm>
            <a:off x="1485900" y="2152650"/>
            <a:ext cx="99631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8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收入同比增长68.16%，两项因素合计贡献97.61%的收入增量。</a:t>
            </a:r>
          </a:p>
        </p:txBody>
      </p:sp>
      <p:sp>
        <p:nvSpPr>
          <p:cNvPr id="8" name="02">
            <a:extLst>
              <a:ext uri="{FF2B5EF4-FFF2-40B4-BE49-F238E27FC236}">
                <a16:creationId xmlns:a16="http://schemas.microsoft.com/office/drawing/2014/main" id="{98E8BE28-48AB-4221-A98D-FBDAE220B468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5905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0">
                <a:solidFill>
                  <a:srgbClr val="823C42"/>
                </a:solidFill>
                <a:latin typeface="Times New Roman"/>
                <a:ea typeface="SimSun"/>
                <a:cs typeface="Times New Roman"/>
              </a:defRPr>
            </a:pPr>
            <a:r>
              <a:rPr sz="2700" b="0">
                <a:solidFill>
                  <a:srgbClr val="823C42"/>
                </a:solidFill>
                <a:latin typeface="Times New Roman"/>
                <a:ea typeface="SimSun"/>
                <a:cs typeface="Times New Roman"/>
              </a:rPr>
              <a:t>02</a:t>
            </a:r>
          </a:p>
        </p:txBody>
      </p:sp>
      <p:sp>
        <p:nvSpPr>
          <p:cNvPr id="9" name="盈利问题集中于Electronics的少数SKU">
            <a:extLst>
              <a:ext uri="{FF2B5EF4-FFF2-40B4-BE49-F238E27FC236}">
                <a16:creationId xmlns:a16="http://schemas.microsoft.com/office/drawing/2014/main" id="{E63B9338-DE22-45D1-9FA2-EEE776A3A95B}"/>
              </a:ext>
            </a:extLst>
          </p:cNvPr>
          <p:cNvSpPr>
            <a:spLocks noGrp="1"/>
          </p:cNvSpPr>
          <p:nvPr/>
        </p:nvSpPr>
        <p:spPr>
          <a:xfrm>
            <a:off x="1485900" y="3105150"/>
            <a:ext cx="99631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42323"/>
                </a:solidFill>
                <a:latin typeface="Times New Roman"/>
                <a:ea typeface="SimSun"/>
                <a:cs typeface="Times New Roman"/>
              </a:defRPr>
            </a:pPr>
            <a:r>
              <a:rPr sz="2250" b="1">
                <a:solidFill>
                  <a:srgbClr val="242323"/>
                </a:solidFill>
                <a:latin typeface="Times New Roman"/>
                <a:ea typeface="SimSun"/>
                <a:cs typeface="Times New Roman"/>
              </a:rPr>
              <a:t>盈利问题集中于Electronics的少数SKU</a:t>
            </a:r>
          </a:p>
        </p:txBody>
      </p:sp>
      <p:sp>
        <p:nvSpPr>
          <p:cNvPr id="10" name="Electronics贡献49.86%的收入，毛利率仅0.9">
            <a:extLst>
              <a:ext uri="{FF2B5EF4-FFF2-40B4-BE49-F238E27FC236}">
                <a16:creationId xmlns:a16="http://schemas.microsoft.com/office/drawing/2014/main" id="{4B16CB62-BD5B-496B-8DFC-7F152BEE2A65}"/>
              </a:ext>
            </a:extLst>
          </p:cNvPr>
          <p:cNvSpPr>
            <a:spLocks noGrp="1"/>
          </p:cNvSpPr>
          <p:nvPr/>
        </p:nvSpPr>
        <p:spPr>
          <a:xfrm>
            <a:off x="1485900" y="3590925"/>
            <a:ext cx="99631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8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品类毛利率仅0.97%；18个亏损SKU贡献全品类96.44%的年度净亏损。</a:t>
            </a:r>
          </a:p>
        </p:txBody>
      </p:sp>
      <p:sp>
        <p:nvSpPr>
          <p:cNvPr id="11" name="03">
            <a:extLst>
              <a:ext uri="{FF2B5EF4-FFF2-40B4-BE49-F238E27FC236}">
                <a16:creationId xmlns:a16="http://schemas.microsoft.com/office/drawing/2014/main" id="{EC29D7CE-8768-49C2-A5F7-9EAE492AFEB5}"/>
              </a:ext>
            </a:extLst>
          </p:cNvPr>
          <p:cNvSpPr>
            <a:spLocks noGrp="1"/>
          </p:cNvSpPr>
          <p:nvPr/>
        </p:nvSpPr>
        <p:spPr>
          <a:xfrm>
            <a:off x="685800" y="4543425"/>
            <a:ext cx="5905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700" b="0">
                <a:solidFill>
                  <a:srgbClr val="823C42"/>
                </a:solidFill>
                <a:latin typeface="Times New Roman"/>
                <a:ea typeface="SimSun"/>
                <a:cs typeface="Times New Roman"/>
              </a:defRPr>
            </a:pPr>
            <a:r>
              <a:rPr sz="2700" b="0">
                <a:solidFill>
                  <a:srgbClr val="823C42"/>
                </a:solidFill>
                <a:latin typeface="Times New Roman"/>
                <a:ea typeface="SimSun"/>
                <a:cs typeface="Times New Roman"/>
              </a:rPr>
              <a:t>03</a:t>
            </a:r>
          </a:p>
        </p:txBody>
      </p:sp>
      <p:sp>
        <p:nvSpPr>
          <p:cNvPr id="12" name="成交折让超过亏损SKU的折前毛利空间">
            <a:extLst>
              <a:ext uri="{FF2B5EF4-FFF2-40B4-BE49-F238E27FC236}">
                <a16:creationId xmlns:a16="http://schemas.microsoft.com/office/drawing/2014/main" id="{0C343297-0D98-485B-8C9F-56D576923613}"/>
              </a:ext>
            </a:extLst>
          </p:cNvPr>
          <p:cNvSpPr>
            <a:spLocks noGrp="1"/>
          </p:cNvSpPr>
          <p:nvPr/>
        </p:nvSpPr>
        <p:spPr>
          <a:xfrm>
            <a:off x="1485900" y="4543425"/>
            <a:ext cx="99631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242323"/>
                </a:solidFill>
                <a:latin typeface="Times New Roman"/>
                <a:ea typeface="SimSun"/>
                <a:cs typeface="Times New Roman"/>
              </a:defRPr>
            </a:pPr>
            <a:r>
              <a:rPr sz="2250" b="1">
                <a:solidFill>
                  <a:srgbClr val="242323"/>
                </a:solidFill>
                <a:latin typeface="Times New Roman"/>
                <a:ea typeface="SimSun"/>
                <a:cs typeface="Times New Roman"/>
              </a:rPr>
              <a:t>成交折让超过毛利空间，整改聚焦前五SKU</a:t>
            </a:r>
          </a:p>
        </p:txBody>
      </p:sp>
      <p:sp>
        <p:nvSpPr>
          <p:cNvPr id="13" name="18个亏损SKU均符合这一金额检验。建议优先核查前五SKU，">
            <a:extLst>
              <a:ext uri="{FF2B5EF4-FFF2-40B4-BE49-F238E27FC236}">
                <a16:creationId xmlns:a16="http://schemas.microsoft.com/office/drawing/2014/main" id="{22132440-DE15-4F46-BAFC-C08F8245BDA3}"/>
              </a:ext>
            </a:extLst>
          </p:cNvPr>
          <p:cNvSpPr>
            <a:spLocks noGrp="1"/>
          </p:cNvSpPr>
          <p:nvPr/>
        </p:nvSpPr>
        <p:spPr>
          <a:xfrm>
            <a:off x="1485900" y="5029200"/>
            <a:ext cx="99631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8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18个Electronics亏损SKU均出现折让超额；</a:t>
            </a:r>
          </a:p>
          <a:p>
            <a:pPr algn="l">
              <a:defRPr sz="18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8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优先核查覆盖76.73%年度净亏损的前五个SKU。</a:t>
            </a:r>
          </a:p>
        </p:txBody>
      </p:sp>
    </p:spTree>
    <p:extLst>
      <p:ext uri="{BB962C8B-B14F-4D97-AF65-F5344CB8AC3E}">
        <p14:creationId xmlns:p14="http://schemas.microsoft.com/office/powerpoint/2010/main" val="341711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CCD57BCE-F917-41C8-9D62-461202983E7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823C42"/>
                </a:solidFill>
                <a:latin typeface="Times New Roman"/>
                <a:ea typeface="SimSun"/>
                <a:cs typeface="Times New Roman"/>
              </a:defRPr>
            </a:pPr>
            <a:r>
              <a:rPr sz="3150" b="1">
                <a:solidFill>
                  <a:srgbClr val="823C42"/>
                </a:solidFill>
                <a:latin typeface="Times New Roman"/>
                <a:ea typeface="SimSun"/>
                <a:cs typeface="Times New Roman"/>
              </a:rPr>
              <a:t>2025年收入与商品毛利同步增长</a:t>
            </a:r>
          </a:p>
        </p:txBody>
      </p:sp>
      <p:sp>
        <p:nvSpPr>
          <p:cNvPr id="3" name="03">
            <a:extLst>
              <a:ext uri="{FF2B5EF4-FFF2-40B4-BE49-F238E27FC236}">
                <a16:creationId xmlns:a16="http://schemas.microsoft.com/office/drawing/2014/main" id="{541DFD9D-BB97-4440-BB80-6815028B3644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381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2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03</a:t>
            </a:r>
          </a:p>
        </p:txBody>
      </p:sp>
      <p:sp>
        <p:nvSpPr>
          <p:cNvPr id="4" name="收入同比增长">
            <a:extLst>
              <a:ext uri="{FF2B5EF4-FFF2-40B4-BE49-F238E27FC236}">
                <a16:creationId xmlns:a16="http://schemas.microsoft.com/office/drawing/2014/main" id="{F7C82691-F4AD-4284-877A-5B4B15287B61}"/>
              </a:ext>
            </a:extLst>
          </p:cNvPr>
          <p:cNvSpPr>
            <a:spLocks noGrp="1"/>
          </p:cNvSpPr>
          <p:nvPr/>
        </p:nvSpPr>
        <p:spPr>
          <a:xfrm>
            <a:off x="685800" y="1476375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0">
                <a:solidFill>
                  <a:srgbClr val="242323"/>
                </a:solidFill>
                <a:latin typeface="Times New Roman"/>
                <a:ea typeface="SimSun"/>
                <a:cs typeface="Times New Roman"/>
              </a:defRPr>
            </a:pPr>
            <a:r>
              <a:rPr sz="2025" b="0">
                <a:solidFill>
                  <a:srgbClr val="242323"/>
                </a:solidFill>
                <a:latin typeface="Times New Roman"/>
                <a:ea typeface="SimSun"/>
                <a:cs typeface="Times New Roman"/>
              </a:rPr>
              <a:t>收入同比增长</a:t>
            </a:r>
          </a:p>
        </p:txBody>
      </p:sp>
      <p:sp>
        <p:nvSpPr>
          <p:cNvPr id="5" name="+68.16%">
            <a:extLst>
              <a:ext uri="{FF2B5EF4-FFF2-40B4-BE49-F238E27FC236}">
                <a16:creationId xmlns:a16="http://schemas.microsoft.com/office/drawing/2014/main" id="{7E81AD57-89A0-4733-874C-385119EBD70F}"/>
              </a:ext>
            </a:extLst>
          </p:cNvPr>
          <p:cNvSpPr>
            <a:spLocks noGrp="1"/>
          </p:cNvSpPr>
          <p:nvPr/>
        </p:nvSpPr>
        <p:spPr>
          <a:xfrm>
            <a:off x="647700" y="1914525"/>
            <a:ext cx="4953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6300" b="0">
                <a:solidFill>
                  <a:srgbClr val="823C42"/>
                </a:solidFill>
                <a:latin typeface="Times New Roman"/>
                <a:ea typeface="SimSun"/>
                <a:cs typeface="Times New Roman"/>
              </a:defRPr>
            </a:pPr>
            <a:r>
              <a:rPr sz="6300" b="0">
                <a:solidFill>
                  <a:srgbClr val="823C42"/>
                </a:solidFill>
                <a:latin typeface="Times New Roman"/>
                <a:ea typeface="SimSun"/>
                <a:cs typeface="Times New Roman"/>
              </a:rPr>
              <a:t>+68.16%</a:t>
            </a:r>
          </a:p>
        </p:txBody>
      </p:sp>
      <p:sp>
        <p:nvSpPr>
          <p:cNvPr id="6" name="商品毛利同比增长">
            <a:extLst>
              <a:ext uri="{FF2B5EF4-FFF2-40B4-BE49-F238E27FC236}">
                <a16:creationId xmlns:a16="http://schemas.microsoft.com/office/drawing/2014/main" id="{1FF7148F-977C-4027-9230-51EFDCB8AC8D}"/>
              </a:ext>
            </a:extLst>
          </p:cNvPr>
          <p:cNvSpPr>
            <a:spLocks noGrp="1"/>
          </p:cNvSpPr>
          <p:nvPr/>
        </p:nvSpPr>
        <p:spPr>
          <a:xfrm>
            <a:off x="6581775" y="1476375"/>
            <a:ext cx="4857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0">
                <a:solidFill>
                  <a:srgbClr val="242323"/>
                </a:solidFill>
                <a:latin typeface="Times New Roman"/>
                <a:ea typeface="SimSun"/>
                <a:cs typeface="Times New Roman"/>
              </a:defRPr>
            </a:pPr>
            <a:r>
              <a:rPr sz="2025" b="0">
                <a:solidFill>
                  <a:srgbClr val="242323"/>
                </a:solidFill>
                <a:latin typeface="Times New Roman"/>
                <a:ea typeface="SimSun"/>
                <a:cs typeface="Times New Roman"/>
              </a:rPr>
              <a:t>商品毛利同比增长</a:t>
            </a:r>
          </a:p>
        </p:txBody>
      </p:sp>
      <p:sp>
        <p:nvSpPr>
          <p:cNvPr id="7" name="+75.38%">
            <a:extLst>
              <a:ext uri="{FF2B5EF4-FFF2-40B4-BE49-F238E27FC236}">
                <a16:creationId xmlns:a16="http://schemas.microsoft.com/office/drawing/2014/main" id="{5722BA3B-B370-48E1-B49E-20C5486E2C31}"/>
              </a:ext>
            </a:extLst>
          </p:cNvPr>
          <p:cNvSpPr>
            <a:spLocks noGrp="1"/>
          </p:cNvSpPr>
          <p:nvPr/>
        </p:nvSpPr>
        <p:spPr>
          <a:xfrm>
            <a:off x="6534150" y="1914525"/>
            <a:ext cx="5000625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6300" b="0">
                <a:solidFill>
                  <a:srgbClr val="823C42"/>
                </a:solidFill>
                <a:latin typeface="Times New Roman"/>
                <a:ea typeface="SimSun"/>
                <a:cs typeface="Times New Roman"/>
              </a:defRPr>
            </a:pPr>
            <a:r>
              <a:rPr sz="6300" b="0">
                <a:solidFill>
                  <a:srgbClr val="823C42"/>
                </a:solidFill>
                <a:latin typeface="Times New Roman"/>
                <a:ea typeface="SimSun"/>
                <a:cs typeface="Times New Roman"/>
              </a:rPr>
              <a:t>+75.38%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685800" y="3362325"/>
          <a:ext cx="10820400" cy="2505077"/>
        </p:xfrm>
        <a:graphic>
          <a:graphicData uri="http://schemas.openxmlformats.org/drawingml/2006/table">
            <a:tbl>
              <a:tblPr/>
              <a:tblGrid>
                <a:gridCol w="323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24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指标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6F3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2024年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6F3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2025年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6F3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25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同比变化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6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收入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25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536.29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25" b="0">
                          <a:solidFill>
                            <a:srgbClr val="823C42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901.83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25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+68.16%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商品毛利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25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42.13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25" b="0">
                          <a:solidFill>
                            <a:srgbClr val="823C42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73.90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25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+75.38%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成交订单数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25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22,057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25" b="0">
                          <a:solidFill>
                            <a:srgbClr val="823C42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36,638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25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+66.11%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9113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整体毛利率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25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7.86%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25" b="0">
                          <a:solidFill>
                            <a:srgbClr val="823C42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8.19%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25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+0.34 pp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金额单位（保留在表格旁）"/>
          <p:cNvSpPr txBox="1"/>
          <p:nvPr/>
        </p:nvSpPr>
        <p:spPr>
          <a:xfrm>
            <a:off x="8851392" y="301752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35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金额单位：百万INR</a:t>
            </a:r>
          </a:p>
        </p:txBody>
      </p:sp>
    </p:spTree>
    <p:extLst>
      <p:ext uri="{BB962C8B-B14F-4D97-AF65-F5344CB8AC3E}">
        <p14:creationId xmlns:p14="http://schemas.microsoft.com/office/powerpoint/2010/main" val="11355097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E104C21B-8620-4204-A303-929A1E6C781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823C42"/>
                </a:solidFill>
                <a:latin typeface="Times New Roman"/>
                <a:ea typeface="SimSun"/>
                <a:cs typeface="Times New Roman"/>
              </a:defRPr>
            </a:pPr>
            <a:r>
              <a:rPr sz="3150" b="1">
                <a:solidFill>
                  <a:srgbClr val="823C42"/>
                </a:solidFill>
                <a:latin typeface="Times New Roman"/>
                <a:ea typeface="SimSun"/>
                <a:cs typeface="Times New Roman"/>
              </a:rPr>
              <a:t>客户规模与购买频次贡献97.61%的收入增量</a:t>
            </a:r>
          </a:p>
        </p:txBody>
      </p:sp>
      <p:sp>
        <p:nvSpPr>
          <p:cNvPr id="2" name="收入 = 购买客户数 × 购买频次 × 客单价">
            <a:extLst>
              <a:ext uri="{FF2B5EF4-FFF2-40B4-BE49-F238E27FC236}">
                <a16:creationId xmlns:a16="http://schemas.microsoft.com/office/drawing/2014/main" id="{FA4F6C8E-AD3D-4196-8855-F8F4EF607BB6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8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收入 = 购买客户数 × 购买频次 × 客单价</a:t>
            </a:r>
          </a:p>
        </p:txBody>
      </p:sp>
      <p:sp>
        <p:nvSpPr>
          <p:cNvPr id="4" name="04">
            <a:extLst>
              <a:ext uri="{FF2B5EF4-FFF2-40B4-BE49-F238E27FC236}">
                <a16:creationId xmlns:a16="http://schemas.microsoft.com/office/drawing/2014/main" id="{BF558E3E-E650-4570-BEEF-30AB2F50F7A7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381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2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04</a:t>
            </a:r>
          </a:p>
        </p:txBody>
      </p:sp>
      <p:sp>
        <p:nvSpPr>
          <p:cNvPr id="5" name="365.54">
            <a:extLst>
              <a:ext uri="{FF2B5EF4-FFF2-40B4-BE49-F238E27FC236}">
                <a16:creationId xmlns:a16="http://schemas.microsoft.com/office/drawing/2014/main" id="{6D799041-4FD4-4ACF-B181-676FBFD70441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2809875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5550" b="0">
                <a:solidFill>
                  <a:srgbClr val="823C42"/>
                </a:solidFill>
                <a:latin typeface="Times New Roman"/>
                <a:ea typeface="SimSun"/>
                <a:cs typeface="Times New Roman"/>
              </a:defRPr>
            </a:pPr>
            <a:r>
              <a:rPr sz="5550" b="0">
                <a:solidFill>
                  <a:srgbClr val="823C42"/>
                </a:solidFill>
                <a:latin typeface="Times New Roman"/>
                <a:ea typeface="SimSun"/>
                <a:cs typeface="Times New Roman"/>
              </a:rPr>
              <a:t>365.54</a:t>
            </a:r>
          </a:p>
        </p:txBody>
      </p:sp>
      <p:sp>
        <p:nvSpPr>
          <p:cNvPr id="6" name="全年收入增量">
            <a:extLst>
              <a:ext uri="{FF2B5EF4-FFF2-40B4-BE49-F238E27FC236}">
                <a16:creationId xmlns:a16="http://schemas.microsoft.com/office/drawing/2014/main" id="{A733F638-FF8B-484C-A098-405A65CB977E}"/>
              </a:ext>
            </a:extLst>
          </p:cNvPr>
          <p:cNvSpPr>
            <a:spLocks noGrp="1"/>
          </p:cNvSpPr>
          <p:nvPr/>
        </p:nvSpPr>
        <p:spPr>
          <a:xfrm>
            <a:off x="733425" y="3495675"/>
            <a:ext cx="27146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0">
                <a:solidFill>
                  <a:srgbClr val="242323"/>
                </a:solidFill>
                <a:latin typeface="Times New Roman"/>
                <a:ea typeface="SimSun"/>
                <a:cs typeface="Times New Roman"/>
              </a:defRPr>
            </a:pPr>
            <a:r>
              <a:rPr sz="2175" b="0">
                <a:solidFill>
                  <a:srgbClr val="242323"/>
                </a:solidFill>
                <a:latin typeface="Times New Roman"/>
                <a:ea typeface="SimSun"/>
                <a:cs typeface="Times New Roman"/>
              </a:rPr>
              <a:t>全年收入增量</a:t>
            </a:r>
          </a:p>
        </p:txBody>
      </p:sp>
      <p:sp>
        <p:nvSpPr>
          <p:cNvPr id="7" name="百万INR">
            <a:extLst>
              <a:ext uri="{FF2B5EF4-FFF2-40B4-BE49-F238E27FC236}">
                <a16:creationId xmlns:a16="http://schemas.microsoft.com/office/drawing/2014/main" id="{DD7404B0-A3FA-4F66-91A4-6B4947AE0E7E}"/>
              </a:ext>
            </a:extLst>
          </p:cNvPr>
          <p:cNvSpPr>
            <a:spLocks noGrp="1"/>
          </p:cNvSpPr>
          <p:nvPr/>
        </p:nvSpPr>
        <p:spPr>
          <a:xfrm>
            <a:off x="733425" y="3933825"/>
            <a:ext cx="27146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8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百万INR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="3667125" y="2333625"/>
          <a:ext cx="7905750" cy="3000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增量贡献比例">
            <a:extLst>
              <a:ext uri="{FF2B5EF4-FFF2-40B4-BE49-F238E27FC236}">
                <a16:creationId xmlns:a16="http://schemas.microsoft.com/office/drawing/2014/main" id="{CE990F58-34F5-4222-8660-3522F5B13C56}"/>
              </a:ext>
            </a:extLst>
          </p:cNvPr>
          <p:cNvSpPr>
            <a:spLocks noGrp="1"/>
          </p:cNvSpPr>
          <p:nvPr/>
        </p:nvSpPr>
        <p:spPr>
          <a:xfrm>
            <a:off x="3838575" y="1962150"/>
            <a:ext cx="7334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72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增量贡献比例</a:t>
            </a:r>
          </a:p>
        </p:txBody>
      </p:sp>
      <p:sp>
        <p:nvSpPr>
          <p:cNvPr id="10" name="购买客户数贡献201.16，购买频次贡献155.64，客单价">
            <a:extLst>
              <a:ext uri="{FF2B5EF4-FFF2-40B4-BE49-F238E27FC236}">
                <a16:creationId xmlns:a16="http://schemas.microsoft.com/office/drawing/2014/main" id="{CE3223DF-65C3-41CE-8611-B8605555B1BF}"/>
              </a:ext>
            </a:extLst>
          </p:cNvPr>
          <p:cNvSpPr>
            <a:spLocks noGrp="1"/>
          </p:cNvSpPr>
          <p:nvPr/>
        </p:nvSpPr>
        <p:spPr>
          <a:xfrm>
            <a:off x="3695700" y="5581650"/>
            <a:ext cx="78867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5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购买客户数贡献201.16，购买频次贡献155.64，客单价贡献8.74（百万INR）</a:t>
            </a:r>
          </a:p>
        </p:txBody>
      </p:sp>
    </p:spTree>
    <p:extLst>
      <p:ext uri="{BB962C8B-B14F-4D97-AF65-F5344CB8AC3E}">
        <p14:creationId xmlns:p14="http://schemas.microsoft.com/office/powerpoint/2010/main" val="1037884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C71C47B7-1575-4A63-A740-A075FACB36AE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823C42"/>
                </a:solidFill>
                <a:latin typeface="Times New Roman"/>
                <a:ea typeface="SimSun"/>
                <a:cs typeface="Times New Roman"/>
              </a:defRPr>
            </a:pPr>
            <a:r>
              <a:rPr sz="3150" b="1">
                <a:solidFill>
                  <a:srgbClr val="823C42"/>
                </a:solidFill>
                <a:latin typeface="Times New Roman"/>
                <a:ea typeface="SimSun"/>
                <a:cs typeface="Times New Roman"/>
              </a:rPr>
              <a:t>收入与毛利贡献明显错位，需继续下钻品类</a:t>
            </a:r>
          </a:p>
        </p:txBody>
      </p:sp>
      <p:sp>
        <p:nvSpPr>
          <p:cNvPr id="2" name="Electronics与Appliances的毛利占比低于收">
            <a:extLst>
              <a:ext uri="{FF2B5EF4-FFF2-40B4-BE49-F238E27FC236}">
                <a16:creationId xmlns:a16="http://schemas.microsoft.com/office/drawing/2014/main" id="{58AD8173-9722-4435-A3F8-AB84B2327043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8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Electronics与Appliances的毛利占比低于收入占比，Fashion的毛利贡献更高。</a:t>
            </a:r>
          </a:p>
        </p:txBody>
      </p:sp>
      <p:sp>
        <p:nvSpPr>
          <p:cNvPr id="4" name="05">
            <a:extLst>
              <a:ext uri="{FF2B5EF4-FFF2-40B4-BE49-F238E27FC236}">
                <a16:creationId xmlns:a16="http://schemas.microsoft.com/office/drawing/2014/main" id="{546EF017-F92B-40A3-8124-974182FFA024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381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2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05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647700" y="2095500"/>
          <a:ext cx="10877550" cy="3762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2078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0A16DF11-5CD9-4530-981D-AEA88AD24F52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823C42"/>
                </a:solidFill>
                <a:latin typeface="Times New Roman"/>
                <a:ea typeface="SimSun"/>
                <a:cs typeface="Times New Roman"/>
              </a:defRPr>
            </a:pPr>
            <a:r>
              <a:rPr sz="3150" b="1">
                <a:solidFill>
                  <a:srgbClr val="823C42"/>
                </a:solidFill>
                <a:latin typeface="Times New Roman"/>
                <a:ea typeface="SimSun"/>
                <a:cs typeface="Times New Roman"/>
              </a:rPr>
              <a:t>Electronics贡献近半收入，毛利率仅0.97%</a:t>
            </a:r>
          </a:p>
        </p:txBody>
      </p:sp>
      <p:sp>
        <p:nvSpPr>
          <p:cNvPr id="2" name="2025年收入449.66百万INR，商品毛利4.38百万I">
            <a:extLst>
              <a:ext uri="{FF2B5EF4-FFF2-40B4-BE49-F238E27FC236}">
                <a16:creationId xmlns:a16="http://schemas.microsoft.com/office/drawing/2014/main" id="{F5976EA3-CAE0-4BDC-B7CC-96D51515EC05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8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2025年收入449.66百万INR，商品毛利4.38百万INR。</a:t>
            </a:r>
          </a:p>
        </p:txBody>
      </p:sp>
      <p:sp>
        <p:nvSpPr>
          <p:cNvPr id="4" name="06">
            <a:extLst>
              <a:ext uri="{FF2B5EF4-FFF2-40B4-BE49-F238E27FC236}">
                <a16:creationId xmlns:a16="http://schemas.microsoft.com/office/drawing/2014/main" id="{1CF9B5BE-FA4B-4B11-9338-77F9984C46F5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381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2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06</a:t>
            </a:r>
          </a:p>
        </p:txBody>
      </p:sp>
      <p:sp>
        <p:nvSpPr>
          <p:cNvPr id="5" name="49.86%">
            <a:extLst>
              <a:ext uri="{FF2B5EF4-FFF2-40B4-BE49-F238E27FC236}">
                <a16:creationId xmlns:a16="http://schemas.microsoft.com/office/drawing/2014/main" id="{8EE666F8-FF9F-492B-9617-E6CBCD9199EE}"/>
              </a:ext>
            </a:extLst>
          </p:cNvPr>
          <p:cNvSpPr>
            <a:spLocks noGrp="1"/>
          </p:cNvSpPr>
          <p:nvPr/>
        </p:nvSpPr>
        <p:spPr>
          <a:xfrm>
            <a:off x="666750" y="2590800"/>
            <a:ext cx="3476625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5700" b="0">
                <a:solidFill>
                  <a:srgbClr val="242323"/>
                </a:solidFill>
                <a:latin typeface="Times New Roman"/>
                <a:ea typeface="SimSun"/>
                <a:cs typeface="Times New Roman"/>
              </a:defRPr>
            </a:pPr>
            <a:r>
              <a:rPr sz="5700" b="0">
                <a:solidFill>
                  <a:srgbClr val="242323"/>
                </a:solidFill>
                <a:latin typeface="Times New Roman"/>
                <a:ea typeface="SimSun"/>
                <a:cs typeface="Times New Roman"/>
              </a:rPr>
              <a:t>49.86%</a:t>
            </a:r>
          </a:p>
        </p:txBody>
      </p:sp>
      <p:sp>
        <p:nvSpPr>
          <p:cNvPr id="6" name="收入占比">
            <a:extLst>
              <a:ext uri="{FF2B5EF4-FFF2-40B4-BE49-F238E27FC236}">
                <a16:creationId xmlns:a16="http://schemas.microsoft.com/office/drawing/2014/main" id="{B66033D2-EF26-42A8-9543-8C67A5399D6E}"/>
              </a:ext>
            </a:extLst>
          </p:cNvPr>
          <p:cNvSpPr>
            <a:spLocks noGrp="1"/>
          </p:cNvSpPr>
          <p:nvPr/>
        </p:nvSpPr>
        <p:spPr>
          <a:xfrm>
            <a:off x="733425" y="3800475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21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收入占比</a:t>
            </a:r>
          </a:p>
        </p:txBody>
      </p:sp>
      <p:sp>
        <p:nvSpPr>
          <p:cNvPr id="7" name="5.93%">
            <a:extLst>
              <a:ext uri="{FF2B5EF4-FFF2-40B4-BE49-F238E27FC236}">
                <a16:creationId xmlns:a16="http://schemas.microsoft.com/office/drawing/2014/main" id="{80CC90F1-9390-4AE5-8FF9-5245A0BFA7BC}"/>
              </a:ext>
            </a:extLst>
          </p:cNvPr>
          <p:cNvSpPr>
            <a:spLocks noGrp="1"/>
          </p:cNvSpPr>
          <p:nvPr/>
        </p:nvSpPr>
        <p:spPr>
          <a:xfrm>
            <a:off x="4724400" y="2590800"/>
            <a:ext cx="299085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5700" b="0">
                <a:solidFill>
                  <a:srgbClr val="242323"/>
                </a:solidFill>
                <a:latin typeface="Times New Roman"/>
                <a:ea typeface="SimSun"/>
                <a:cs typeface="Times New Roman"/>
              </a:defRPr>
            </a:pPr>
            <a:r>
              <a:rPr sz="5700" b="0">
                <a:solidFill>
                  <a:srgbClr val="242323"/>
                </a:solidFill>
                <a:latin typeface="Times New Roman"/>
                <a:ea typeface="SimSun"/>
                <a:cs typeface="Times New Roman"/>
              </a:rPr>
              <a:t>5.93%</a:t>
            </a:r>
          </a:p>
        </p:txBody>
      </p:sp>
      <p:sp>
        <p:nvSpPr>
          <p:cNvPr id="8" name="毛利占比">
            <a:extLst>
              <a:ext uri="{FF2B5EF4-FFF2-40B4-BE49-F238E27FC236}">
                <a16:creationId xmlns:a16="http://schemas.microsoft.com/office/drawing/2014/main" id="{50EF00B6-77A0-4D0D-8046-3F4F29DC8CDF}"/>
              </a:ext>
            </a:extLst>
          </p:cNvPr>
          <p:cNvSpPr>
            <a:spLocks noGrp="1"/>
          </p:cNvSpPr>
          <p:nvPr/>
        </p:nvSpPr>
        <p:spPr>
          <a:xfrm>
            <a:off x="4752975" y="3800475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21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毛利占比</a:t>
            </a:r>
          </a:p>
        </p:txBody>
      </p:sp>
      <p:sp>
        <p:nvSpPr>
          <p:cNvPr id="9" name="0.97%">
            <a:extLst>
              <a:ext uri="{FF2B5EF4-FFF2-40B4-BE49-F238E27FC236}">
                <a16:creationId xmlns:a16="http://schemas.microsoft.com/office/drawing/2014/main" id="{0BCCC2EA-F3EE-4929-B731-193275CA3D02}"/>
              </a:ext>
            </a:extLst>
          </p:cNvPr>
          <p:cNvSpPr>
            <a:spLocks noGrp="1"/>
          </p:cNvSpPr>
          <p:nvPr/>
        </p:nvSpPr>
        <p:spPr>
          <a:xfrm>
            <a:off x="8601075" y="2524125"/>
            <a:ext cx="295275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6225" b="0">
                <a:solidFill>
                  <a:srgbClr val="823C42"/>
                </a:solidFill>
                <a:latin typeface="Times New Roman"/>
                <a:ea typeface="SimSun"/>
                <a:cs typeface="Times New Roman"/>
              </a:defRPr>
            </a:pPr>
            <a:r>
              <a:rPr sz="6225" b="0">
                <a:solidFill>
                  <a:srgbClr val="823C42"/>
                </a:solidFill>
                <a:latin typeface="Times New Roman"/>
                <a:ea typeface="SimSun"/>
                <a:cs typeface="Times New Roman"/>
              </a:rPr>
              <a:t>0.97%</a:t>
            </a:r>
          </a:p>
        </p:txBody>
      </p:sp>
      <p:sp>
        <p:nvSpPr>
          <p:cNvPr id="10" name="品类毛利率">
            <a:extLst>
              <a:ext uri="{FF2B5EF4-FFF2-40B4-BE49-F238E27FC236}">
                <a16:creationId xmlns:a16="http://schemas.microsoft.com/office/drawing/2014/main" id="{3B87B646-5138-41BB-AC15-9E45D90D5815}"/>
              </a:ext>
            </a:extLst>
          </p:cNvPr>
          <p:cNvSpPr>
            <a:spLocks noGrp="1"/>
          </p:cNvSpPr>
          <p:nvPr/>
        </p:nvSpPr>
        <p:spPr>
          <a:xfrm>
            <a:off x="8648700" y="3800475"/>
            <a:ext cx="28194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0">
                <a:solidFill>
                  <a:srgbClr val="823C42"/>
                </a:solidFill>
                <a:latin typeface="Times New Roman"/>
                <a:ea typeface="SimSun"/>
                <a:cs typeface="Times New Roman"/>
              </a:defRPr>
            </a:pPr>
            <a:r>
              <a:rPr sz="2175" b="0">
                <a:solidFill>
                  <a:srgbClr val="823C42"/>
                </a:solidFill>
                <a:latin typeface="Times New Roman"/>
                <a:ea typeface="SimSun"/>
                <a:cs typeface="Times New Roman"/>
              </a:rPr>
              <a:t>品类毛利率</a:t>
            </a:r>
          </a:p>
        </p:txBody>
      </p:sp>
      <p:sp>
        <p:nvSpPr>
          <p:cNvPr id="11" name="每100 INR收入，仅形成约0.97 INR商品毛利">
            <a:extLst>
              <a:ext uri="{FF2B5EF4-FFF2-40B4-BE49-F238E27FC236}">
                <a16:creationId xmlns:a16="http://schemas.microsoft.com/office/drawing/2014/main" id="{3D148E50-5895-486F-80F3-27189BB71D4C}"/>
              </a:ext>
            </a:extLst>
          </p:cNvPr>
          <p:cNvSpPr>
            <a:spLocks noGrp="1"/>
          </p:cNvSpPr>
          <p:nvPr/>
        </p:nvSpPr>
        <p:spPr>
          <a:xfrm>
            <a:off x="733425" y="5086350"/>
            <a:ext cx="1071562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0">
                <a:solidFill>
                  <a:srgbClr val="242323"/>
                </a:solidFill>
                <a:latin typeface="Times New Roman"/>
                <a:ea typeface="SimSun"/>
                <a:cs typeface="Times New Roman"/>
              </a:defRPr>
            </a:pPr>
            <a:r>
              <a:rPr sz="2400" b="0">
                <a:solidFill>
                  <a:srgbClr val="242323"/>
                </a:solidFill>
                <a:latin typeface="Times New Roman"/>
                <a:ea typeface="SimSun"/>
                <a:cs typeface="Times New Roman"/>
              </a:rPr>
              <a:t>每100 INR收入，仅形成约0.97 INR商品毛利</a:t>
            </a:r>
          </a:p>
        </p:txBody>
      </p:sp>
    </p:spTree>
    <p:extLst>
      <p:ext uri="{BB962C8B-B14F-4D97-AF65-F5344CB8AC3E}">
        <p14:creationId xmlns:p14="http://schemas.microsoft.com/office/powerpoint/2010/main" val="876799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>
            <a:extLst>
              <a:ext uri="{FF2B5EF4-FFF2-40B4-BE49-F238E27FC236}">
                <a16:creationId xmlns:a16="http://schemas.microsoft.com/office/drawing/2014/main" id="{E91D58F0-565E-466F-8894-0FD55B65EDA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000" b="1">
                <a:solidFill>
                  <a:srgbClr val="823C42"/>
                </a:solidFill>
                <a:latin typeface="Times New Roman"/>
                <a:ea typeface="SimSun"/>
                <a:cs typeface="Times New Roman"/>
              </a:defRPr>
            </a:pPr>
            <a:r>
              <a:rPr sz="3000" b="1">
                <a:solidFill>
                  <a:srgbClr val="823C42"/>
                </a:solidFill>
                <a:latin typeface="Times New Roman"/>
                <a:ea typeface="SimSun"/>
                <a:cs typeface="Times New Roman"/>
              </a:rPr>
              <a:t>18个Electronics亏损SKU</a:t>
            </a:r>
          </a:p>
          <a:p>
            <a:pPr algn="l">
              <a:defRPr sz="3000" b="1">
                <a:solidFill>
                  <a:srgbClr val="823C42"/>
                </a:solidFill>
                <a:latin typeface="Times New Roman"/>
                <a:ea typeface="SimSun"/>
                <a:cs typeface="Times New Roman"/>
              </a:defRPr>
            </a:pPr>
            <a:r>
              <a:rPr sz="3000" b="1">
                <a:solidFill>
                  <a:srgbClr val="823C42"/>
                </a:solidFill>
                <a:latin typeface="Times New Roman"/>
                <a:ea typeface="SimSun"/>
                <a:cs typeface="Times New Roman"/>
              </a:rPr>
              <a:t>贡献全品类96.44%的年度净亏损</a:t>
            </a:r>
          </a:p>
        </p:txBody>
      </p:sp>
      <p:sp>
        <p:nvSpPr>
          <p:cNvPr id="3" name="07">
            <a:extLst>
              <a:ext uri="{FF2B5EF4-FFF2-40B4-BE49-F238E27FC236}">
                <a16:creationId xmlns:a16="http://schemas.microsoft.com/office/drawing/2014/main" id="{3A2C97EB-5AE5-485A-AF16-85E72E123D90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381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2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07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762000" y="2000250"/>
          <a:ext cx="10725150" cy="2600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全品类">
            <a:extLst>
              <a:ext uri="{FF2B5EF4-FFF2-40B4-BE49-F238E27FC236}">
                <a16:creationId xmlns:a16="http://schemas.microsoft.com/office/drawing/2014/main" id="{59866683-3C7B-4966-BFE0-A25C7180D867}"/>
              </a:ext>
            </a:extLst>
          </p:cNvPr>
          <p:cNvSpPr>
            <a:spLocks noGrp="1"/>
          </p:cNvSpPr>
          <p:nvPr/>
        </p:nvSpPr>
        <p:spPr>
          <a:xfrm>
            <a:off x="771525" y="5048250"/>
            <a:ext cx="152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8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全品类</a:t>
            </a:r>
          </a:p>
        </p:txBody>
      </p:sp>
      <p:sp>
        <p:nvSpPr>
          <p:cNvPr id="6" name="33个亏损SKU，亏损5.21百万INR">
            <a:extLst>
              <a:ext uri="{FF2B5EF4-FFF2-40B4-BE49-F238E27FC236}">
                <a16:creationId xmlns:a16="http://schemas.microsoft.com/office/drawing/2014/main" id="{E8211959-9A7F-4506-BFA5-EC848A76E20C}"/>
              </a:ext>
            </a:extLst>
          </p:cNvPr>
          <p:cNvSpPr>
            <a:spLocks noGrp="1"/>
          </p:cNvSpPr>
          <p:nvPr/>
        </p:nvSpPr>
        <p:spPr>
          <a:xfrm>
            <a:off x="2428875" y="5048250"/>
            <a:ext cx="9001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0">
                <a:solidFill>
                  <a:srgbClr val="242323"/>
                </a:solidFill>
                <a:latin typeface="Times New Roman"/>
                <a:ea typeface="SimSun"/>
                <a:cs typeface="Times New Roman"/>
              </a:defRPr>
            </a:pPr>
            <a:r>
              <a:rPr sz="2175" b="0">
                <a:solidFill>
                  <a:srgbClr val="242323"/>
                </a:solidFill>
                <a:latin typeface="Times New Roman"/>
                <a:ea typeface="SimSun"/>
                <a:cs typeface="Times New Roman"/>
              </a:rPr>
              <a:t>33个亏损SKU，亏损5.21百万INR</a:t>
            </a:r>
          </a:p>
        </p:txBody>
      </p:sp>
      <p:sp>
        <p:nvSpPr>
          <p:cNvPr id="7" name="Electronics">
            <a:extLst>
              <a:ext uri="{FF2B5EF4-FFF2-40B4-BE49-F238E27FC236}">
                <a16:creationId xmlns:a16="http://schemas.microsoft.com/office/drawing/2014/main" id="{4A0B6D69-5BD2-4157-B9EE-EA74352CFF5D}"/>
              </a:ext>
            </a:extLst>
          </p:cNvPr>
          <p:cNvSpPr>
            <a:spLocks noGrp="1"/>
          </p:cNvSpPr>
          <p:nvPr/>
        </p:nvSpPr>
        <p:spPr>
          <a:xfrm>
            <a:off x="771525" y="5543550"/>
            <a:ext cx="15906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823C42"/>
                </a:solidFill>
                <a:latin typeface="Times New Roman"/>
                <a:ea typeface="SimSun"/>
                <a:cs typeface="Times New Roman"/>
              </a:defRPr>
            </a:pPr>
            <a:r>
              <a:rPr sz="1875" b="0">
                <a:solidFill>
                  <a:srgbClr val="823C42"/>
                </a:solidFill>
                <a:latin typeface="Times New Roman"/>
                <a:ea typeface="SimSun"/>
                <a:cs typeface="Times New Roman"/>
              </a:rPr>
              <a:t>Electronics</a:t>
            </a:r>
          </a:p>
        </p:txBody>
      </p:sp>
      <p:sp>
        <p:nvSpPr>
          <p:cNvPr id="8" name="18个亏损SKU，亏损5.03百万INR">
            <a:extLst>
              <a:ext uri="{FF2B5EF4-FFF2-40B4-BE49-F238E27FC236}">
                <a16:creationId xmlns:a16="http://schemas.microsoft.com/office/drawing/2014/main" id="{F0E81451-3BDB-4FE3-B293-3DD28A2A4015}"/>
              </a:ext>
            </a:extLst>
          </p:cNvPr>
          <p:cNvSpPr>
            <a:spLocks noGrp="1"/>
          </p:cNvSpPr>
          <p:nvPr/>
        </p:nvSpPr>
        <p:spPr>
          <a:xfrm>
            <a:off x="2428875" y="5543550"/>
            <a:ext cx="90011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0">
                <a:solidFill>
                  <a:srgbClr val="823C42"/>
                </a:solidFill>
                <a:latin typeface="Times New Roman"/>
                <a:ea typeface="SimSun"/>
                <a:cs typeface="Times New Roman"/>
              </a:defRPr>
            </a:pPr>
            <a:r>
              <a:rPr sz="2175" b="0">
                <a:solidFill>
                  <a:srgbClr val="823C42"/>
                </a:solidFill>
                <a:latin typeface="Times New Roman"/>
                <a:ea typeface="SimSun"/>
                <a:cs typeface="Times New Roman"/>
              </a:rPr>
              <a:t>18个亏损SKU，亏损5.03百万INR</a:t>
            </a:r>
          </a:p>
        </p:txBody>
      </p:sp>
    </p:spTree>
    <p:extLst>
      <p:ext uri="{BB962C8B-B14F-4D97-AF65-F5344CB8AC3E}">
        <p14:creationId xmlns:p14="http://schemas.microsoft.com/office/powerpoint/2010/main" val="2075705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>
            <a:extLst>
              <a:ext uri="{FF2B5EF4-FFF2-40B4-BE49-F238E27FC236}">
                <a16:creationId xmlns:a16="http://schemas.microsoft.com/office/drawing/2014/main" id="{4984438E-BA84-41A0-8B00-74DDC6FFA65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823C42"/>
                </a:solidFill>
                <a:latin typeface="Times New Roman"/>
                <a:ea typeface="SimSun"/>
                <a:cs typeface="Times New Roman"/>
              </a:defRPr>
            </a:pPr>
            <a:r>
              <a:rPr sz="3150" b="1">
                <a:solidFill>
                  <a:srgbClr val="823C42"/>
                </a:solidFill>
                <a:latin typeface="Times New Roman"/>
                <a:ea typeface="SimSun"/>
                <a:cs typeface="Times New Roman"/>
              </a:rPr>
              <a:t>18个亏损SKU的成交折让均超过折前毛利空间</a:t>
            </a:r>
          </a:p>
        </p:txBody>
      </p:sp>
      <p:sp>
        <p:nvSpPr>
          <p:cNvPr id="3" name="08">
            <a:extLst>
              <a:ext uri="{FF2B5EF4-FFF2-40B4-BE49-F238E27FC236}">
                <a16:creationId xmlns:a16="http://schemas.microsoft.com/office/drawing/2014/main" id="{60F428F9-5087-404D-8528-488762A58C36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381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2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08</a:t>
            </a:r>
          </a:p>
        </p:txBody>
      </p:sp>
      <p:sp>
        <p:nvSpPr>
          <p:cNvPr id="4" name="Electronics品类整体，2025年（百万INR）">
            <a:extLst>
              <a:ext uri="{FF2B5EF4-FFF2-40B4-BE49-F238E27FC236}">
                <a16:creationId xmlns:a16="http://schemas.microsoft.com/office/drawing/2014/main" id="{87813E08-F969-4432-9903-AEDA7B6A58C2}"/>
              </a:ext>
            </a:extLst>
          </p:cNvPr>
          <p:cNvSpPr>
            <a:spLocks noGrp="1"/>
          </p:cNvSpPr>
          <p:nvPr/>
        </p:nvSpPr>
        <p:spPr>
          <a:xfrm>
            <a:off x="695325" y="1400175"/>
            <a:ext cx="10763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8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Electronics品类整体，2025年（百万INR）</a:t>
            </a:r>
          </a:p>
        </p:txBody>
      </p:sp>
      <p:sp>
        <p:nvSpPr>
          <p:cNvPr id="5" name="69.27">
            <a:extLst>
              <a:ext uri="{FF2B5EF4-FFF2-40B4-BE49-F238E27FC236}">
                <a16:creationId xmlns:a16="http://schemas.microsoft.com/office/drawing/2014/main" id="{471B1B26-0208-4ED7-9B79-FD61C924AD6F}"/>
              </a:ext>
            </a:extLst>
          </p:cNvPr>
          <p:cNvSpPr>
            <a:spLocks noGrp="1"/>
          </p:cNvSpPr>
          <p:nvPr/>
        </p:nvSpPr>
        <p:spPr>
          <a:xfrm>
            <a:off x="676275" y="2152650"/>
            <a:ext cx="25717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6000" b="0">
                <a:solidFill>
                  <a:srgbClr val="242323"/>
                </a:solidFill>
                <a:latin typeface="Times New Roman"/>
                <a:ea typeface="SimSun"/>
                <a:cs typeface="Times New Roman"/>
              </a:defRPr>
            </a:pPr>
            <a:r>
              <a:rPr sz="6000" b="0">
                <a:solidFill>
                  <a:srgbClr val="242323"/>
                </a:solidFill>
                <a:latin typeface="Times New Roman"/>
                <a:ea typeface="SimSun"/>
                <a:cs typeface="Times New Roman"/>
              </a:rPr>
              <a:t>69.27</a:t>
            </a:r>
          </a:p>
        </p:txBody>
      </p:sp>
      <p:sp>
        <p:nvSpPr>
          <p:cNvPr id="6" name="−">
            <a:extLst>
              <a:ext uri="{FF2B5EF4-FFF2-40B4-BE49-F238E27FC236}">
                <a16:creationId xmlns:a16="http://schemas.microsoft.com/office/drawing/2014/main" id="{7065D642-6ED0-470B-9782-1B950B394AAF}"/>
              </a:ext>
            </a:extLst>
          </p:cNvPr>
          <p:cNvSpPr>
            <a:spLocks noGrp="1"/>
          </p:cNvSpPr>
          <p:nvPr/>
        </p:nvSpPr>
        <p:spPr>
          <a:xfrm>
            <a:off x="3581400" y="2190750"/>
            <a:ext cx="7429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51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51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−</a:t>
            </a:r>
          </a:p>
        </p:txBody>
      </p:sp>
      <p:sp>
        <p:nvSpPr>
          <p:cNvPr id="7" name="64.89">
            <a:extLst>
              <a:ext uri="{FF2B5EF4-FFF2-40B4-BE49-F238E27FC236}">
                <a16:creationId xmlns:a16="http://schemas.microsoft.com/office/drawing/2014/main" id="{D6F09B97-6127-4557-B4F4-507FC48C491E}"/>
              </a:ext>
            </a:extLst>
          </p:cNvPr>
          <p:cNvSpPr>
            <a:spLocks noGrp="1"/>
          </p:cNvSpPr>
          <p:nvPr/>
        </p:nvSpPr>
        <p:spPr>
          <a:xfrm>
            <a:off x="4848225" y="2152650"/>
            <a:ext cx="2657475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6000" b="0">
                <a:solidFill>
                  <a:srgbClr val="823C42"/>
                </a:solidFill>
                <a:latin typeface="Times New Roman"/>
                <a:ea typeface="SimSun"/>
                <a:cs typeface="Times New Roman"/>
              </a:defRPr>
            </a:pPr>
            <a:r>
              <a:rPr sz="6000" b="0">
                <a:solidFill>
                  <a:srgbClr val="823C42"/>
                </a:solidFill>
                <a:latin typeface="Times New Roman"/>
                <a:ea typeface="SimSun"/>
                <a:cs typeface="Times New Roman"/>
              </a:rPr>
              <a:t>64.89</a:t>
            </a:r>
          </a:p>
        </p:txBody>
      </p:sp>
      <p:sp>
        <p:nvSpPr>
          <p:cNvPr id="8" name="=">
            <a:extLst>
              <a:ext uri="{FF2B5EF4-FFF2-40B4-BE49-F238E27FC236}">
                <a16:creationId xmlns:a16="http://schemas.microsoft.com/office/drawing/2014/main" id="{A66B4530-B41D-4752-9915-6DA431F1E545}"/>
              </a:ext>
            </a:extLst>
          </p:cNvPr>
          <p:cNvSpPr>
            <a:spLocks noGrp="1"/>
          </p:cNvSpPr>
          <p:nvPr/>
        </p:nvSpPr>
        <p:spPr>
          <a:xfrm>
            <a:off x="7867650" y="2190750"/>
            <a:ext cx="74295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51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51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=</a:t>
            </a:r>
          </a:p>
        </p:txBody>
      </p:sp>
      <p:sp>
        <p:nvSpPr>
          <p:cNvPr id="9" name="4.38">
            <a:extLst>
              <a:ext uri="{FF2B5EF4-FFF2-40B4-BE49-F238E27FC236}">
                <a16:creationId xmlns:a16="http://schemas.microsoft.com/office/drawing/2014/main" id="{DFCE4D8E-964B-413D-A749-22F1FD5B0030}"/>
              </a:ext>
            </a:extLst>
          </p:cNvPr>
          <p:cNvSpPr>
            <a:spLocks noGrp="1"/>
          </p:cNvSpPr>
          <p:nvPr/>
        </p:nvSpPr>
        <p:spPr>
          <a:xfrm>
            <a:off x="9058275" y="2152650"/>
            <a:ext cx="2524125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6000" b="0">
                <a:solidFill>
                  <a:srgbClr val="242323"/>
                </a:solidFill>
                <a:latin typeface="Times New Roman"/>
                <a:ea typeface="SimSun"/>
                <a:cs typeface="Times New Roman"/>
              </a:defRPr>
            </a:pPr>
            <a:r>
              <a:rPr sz="6000" b="0">
                <a:solidFill>
                  <a:srgbClr val="242323"/>
                </a:solidFill>
                <a:latin typeface="Times New Roman"/>
                <a:ea typeface="SimSun"/>
                <a:cs typeface="Times New Roman"/>
              </a:rPr>
              <a:t>4.38</a:t>
            </a:r>
          </a:p>
        </p:txBody>
      </p:sp>
      <p:sp>
        <p:nvSpPr>
          <p:cNvPr id="10" name="折前商品毛利基准">
            <a:extLst>
              <a:ext uri="{FF2B5EF4-FFF2-40B4-BE49-F238E27FC236}">
                <a16:creationId xmlns:a16="http://schemas.microsoft.com/office/drawing/2014/main" id="{0314F9E3-C764-46DE-8F55-752D439AC6C8}"/>
              </a:ext>
            </a:extLst>
          </p:cNvPr>
          <p:cNvSpPr>
            <a:spLocks noGrp="1"/>
          </p:cNvSpPr>
          <p:nvPr/>
        </p:nvSpPr>
        <p:spPr>
          <a:xfrm>
            <a:off x="714375" y="3324225"/>
            <a:ext cx="3238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202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折前商品毛利基准</a:t>
            </a:r>
          </a:p>
        </p:txBody>
      </p:sp>
      <p:sp>
        <p:nvSpPr>
          <p:cNvPr id="11" name="成交折让">
            <a:extLst>
              <a:ext uri="{FF2B5EF4-FFF2-40B4-BE49-F238E27FC236}">
                <a16:creationId xmlns:a16="http://schemas.microsoft.com/office/drawing/2014/main" id="{500027BC-9812-4121-AE67-9270535E3B51}"/>
              </a:ext>
            </a:extLst>
          </p:cNvPr>
          <p:cNvSpPr>
            <a:spLocks noGrp="1"/>
          </p:cNvSpPr>
          <p:nvPr/>
        </p:nvSpPr>
        <p:spPr>
          <a:xfrm>
            <a:off x="4933950" y="3324225"/>
            <a:ext cx="300037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0">
                <a:solidFill>
                  <a:srgbClr val="823C42"/>
                </a:solidFill>
                <a:latin typeface="Times New Roman"/>
                <a:ea typeface="SimSun"/>
                <a:cs typeface="Times New Roman"/>
              </a:defRPr>
            </a:pPr>
            <a:r>
              <a:rPr sz="2025" b="0">
                <a:solidFill>
                  <a:srgbClr val="823C42"/>
                </a:solidFill>
                <a:latin typeface="Times New Roman"/>
                <a:ea typeface="SimSun"/>
                <a:cs typeface="Times New Roman"/>
              </a:rPr>
              <a:t>成交折让</a:t>
            </a:r>
          </a:p>
        </p:txBody>
      </p:sp>
      <p:sp>
        <p:nvSpPr>
          <p:cNvPr id="12" name="实际商品毛利">
            <a:extLst>
              <a:ext uri="{FF2B5EF4-FFF2-40B4-BE49-F238E27FC236}">
                <a16:creationId xmlns:a16="http://schemas.microsoft.com/office/drawing/2014/main" id="{44420A0F-9924-4506-A844-53C8B734BAAE}"/>
              </a:ext>
            </a:extLst>
          </p:cNvPr>
          <p:cNvSpPr>
            <a:spLocks noGrp="1"/>
          </p:cNvSpPr>
          <p:nvPr/>
        </p:nvSpPr>
        <p:spPr>
          <a:xfrm>
            <a:off x="9096375" y="3324225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02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202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实际商品毛利</a:t>
            </a:r>
          </a:p>
        </p:txBody>
      </p:sp>
      <p:graphicFrame>
        <p:nvGraphicFramePr>
          <p:cNvPr id="26" name="表格 25"/>
          <p:cNvGraphicFramePr/>
          <p:nvPr/>
        </p:nvGraphicFramePr>
        <p:xfrm>
          <a:off x="714375" y="4276725"/>
          <a:ext cx="10763250" cy="1600200"/>
        </p:xfrm>
        <a:graphic>
          <a:graphicData uri="http://schemas.openxmlformats.org/drawingml/2006/table">
            <a:tbl>
              <a:tblPr/>
              <a:tblGrid>
                <a:gridCol w="8791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18个年度亏损SKU的金额检验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6F3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50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符合数量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6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折前商品毛利基准为正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25" b="0">
                          <a:solidFill>
                            <a:srgbClr val="823C42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18 / 18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成交折让超过折前商品毛利基准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25" b="0">
                          <a:solidFill>
                            <a:srgbClr val="823C42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18 / 18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5512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6B2CBBB0-BA8F-47AB-9025-D8050D6BC759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823C42"/>
                </a:solidFill>
                <a:latin typeface="Times New Roman"/>
                <a:ea typeface="SimSun"/>
                <a:cs typeface="Times New Roman"/>
              </a:defRPr>
            </a:pPr>
            <a:r>
              <a:rPr sz="3000" b="1">
                <a:solidFill>
                  <a:srgbClr val="823C42"/>
                </a:solidFill>
                <a:latin typeface="Times New Roman"/>
                <a:ea typeface="SimSun"/>
                <a:cs typeface="Times New Roman"/>
              </a:rPr>
              <a:t>优先核查前五个SKU，覆盖76.73%的年度净亏损</a:t>
            </a:r>
          </a:p>
        </p:txBody>
      </p:sp>
      <p:sp>
        <p:nvSpPr>
          <p:cNvPr id="3" name="09">
            <a:extLst>
              <a:ext uri="{FF2B5EF4-FFF2-40B4-BE49-F238E27FC236}">
                <a16:creationId xmlns:a16="http://schemas.microsoft.com/office/drawing/2014/main" id="{8E58874C-B706-4864-96D6-76DDC408FBF0}"/>
              </a:ext>
            </a:extLst>
          </p:cNvPr>
          <p:cNvSpPr>
            <a:spLocks noGrp="1"/>
          </p:cNvSpPr>
          <p:nvPr/>
        </p:nvSpPr>
        <p:spPr>
          <a:xfrm>
            <a:off x="11163300" y="6343650"/>
            <a:ext cx="381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2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09</a:t>
            </a:r>
          </a:p>
        </p:txBody>
      </p:sp>
      <p:sp>
        <p:nvSpPr>
          <p:cNvPr id="4" name="首批价格与折扣核查对象">
            <a:extLst>
              <a:ext uri="{FF2B5EF4-FFF2-40B4-BE49-F238E27FC236}">
                <a16:creationId xmlns:a16="http://schemas.microsoft.com/office/drawing/2014/main" id="{A54D9FA8-95A5-47AA-8F50-9A91FB3FCC62}"/>
              </a:ext>
            </a:extLst>
          </p:cNvPr>
          <p:cNvSpPr>
            <a:spLocks noGrp="1"/>
          </p:cNvSpPr>
          <p:nvPr/>
        </p:nvSpPr>
        <p:spPr>
          <a:xfrm>
            <a:off x="714375" y="1704975"/>
            <a:ext cx="106299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8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针对折让超出毛利空间的问题，先核查这五个SKU的成本与折扣规则</a:t>
            </a:r>
          </a:p>
        </p:txBody>
      </p:sp>
      <p:sp>
        <p:nvSpPr>
          <p:cNvPr id="5" name="76.73%">
            <a:extLst>
              <a:ext uri="{FF2B5EF4-FFF2-40B4-BE49-F238E27FC236}">
                <a16:creationId xmlns:a16="http://schemas.microsoft.com/office/drawing/2014/main" id="{020E3433-26DB-49CD-B04C-7F697943EED1}"/>
              </a:ext>
            </a:extLst>
          </p:cNvPr>
          <p:cNvSpPr>
            <a:spLocks noGrp="1"/>
          </p:cNvSpPr>
          <p:nvPr/>
        </p:nvSpPr>
        <p:spPr>
          <a:xfrm>
            <a:off x="676275" y="2724150"/>
            <a:ext cx="3286125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5400" b="0">
                <a:solidFill>
                  <a:srgbClr val="823C42"/>
                </a:solidFill>
                <a:latin typeface="Times New Roman"/>
                <a:ea typeface="SimSun"/>
                <a:cs typeface="Times New Roman"/>
              </a:defRPr>
            </a:pPr>
            <a:r>
              <a:rPr sz="5400" b="0">
                <a:solidFill>
                  <a:srgbClr val="823C42"/>
                </a:solidFill>
                <a:latin typeface="Times New Roman"/>
                <a:ea typeface="SimSun"/>
                <a:cs typeface="Times New Roman"/>
              </a:rPr>
              <a:t>76.73%</a:t>
            </a:r>
          </a:p>
        </p:txBody>
      </p:sp>
      <p:sp>
        <p:nvSpPr>
          <p:cNvPr id="6" name="全品类年度净亏损占比">
            <a:extLst>
              <a:ext uri="{FF2B5EF4-FFF2-40B4-BE49-F238E27FC236}">
                <a16:creationId xmlns:a16="http://schemas.microsoft.com/office/drawing/2014/main" id="{329ECFD5-347E-4E9A-B77D-FE6148A87B4E}"/>
              </a:ext>
            </a:extLst>
          </p:cNvPr>
          <p:cNvSpPr>
            <a:spLocks noGrp="1"/>
          </p:cNvSpPr>
          <p:nvPr/>
        </p:nvSpPr>
        <p:spPr>
          <a:xfrm>
            <a:off x="733425" y="3905250"/>
            <a:ext cx="321945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242323"/>
                </a:solidFill>
                <a:latin typeface="Times New Roman"/>
                <a:ea typeface="SimSun"/>
                <a:cs typeface="Times New Roman"/>
              </a:defRPr>
            </a:pPr>
            <a:r>
              <a:rPr sz="1950" b="0">
                <a:solidFill>
                  <a:srgbClr val="242323"/>
                </a:solidFill>
                <a:latin typeface="Times New Roman"/>
                <a:ea typeface="SimSun"/>
                <a:cs typeface="Times New Roman"/>
              </a:rPr>
              <a:t>全品类年度净亏损占比</a:t>
            </a:r>
          </a:p>
        </p:txBody>
      </p:sp>
      <p:sp>
        <p:nvSpPr>
          <p:cNvPr id="7" name="合计亏损4.00百万INR">
            <a:extLst>
              <a:ext uri="{FF2B5EF4-FFF2-40B4-BE49-F238E27FC236}">
                <a16:creationId xmlns:a16="http://schemas.microsoft.com/office/drawing/2014/main" id="{8576651E-5F44-48A8-8CD8-18DDBBE6ABB7}"/>
              </a:ext>
            </a:extLst>
          </p:cNvPr>
          <p:cNvSpPr>
            <a:spLocks noGrp="1"/>
          </p:cNvSpPr>
          <p:nvPr/>
        </p:nvSpPr>
        <p:spPr>
          <a:xfrm>
            <a:off x="733425" y="4972050"/>
            <a:ext cx="32194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95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95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合计亏损4.00百万INR</a:t>
            </a:r>
          </a:p>
        </p:txBody>
      </p:sp>
      <p:graphicFrame>
        <p:nvGraphicFramePr>
          <p:cNvPr id="17" name="表格 16"/>
          <p:cNvGraphicFramePr/>
          <p:nvPr/>
        </p:nvGraphicFramePr>
        <p:xfrm>
          <a:off x="4267200" y="2495550"/>
          <a:ext cx="7210425" cy="3228975"/>
        </p:xfrm>
        <a:graphic>
          <a:graphicData uri="http://schemas.openxmlformats.org/drawingml/2006/table">
            <a:tbl>
              <a:tblPr/>
              <a:tblGrid>
                <a:gridCol w="2162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商品ID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6F3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75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商品毛利¹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6F3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75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亏损贡献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6F3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75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累计贡献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6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PROD10445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823C42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-1.27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24.29%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823C42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24.29%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PROD10501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823C42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-0.78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14.92%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823C42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39.21%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PROD10306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823C42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-0.75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14.47%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823C42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53.68%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PROD10072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823C42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-0.65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12.56%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823C42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66.24%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PROD10421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823C42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-0.55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10.49%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800" b="0">
                          <a:solidFill>
                            <a:srgbClr val="823C42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76.73%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¹ 商品毛利单位：百万INR">
            <a:extLst>
              <a:ext uri="{FF2B5EF4-FFF2-40B4-BE49-F238E27FC236}">
                <a16:creationId xmlns:a16="http://schemas.microsoft.com/office/drawing/2014/main" id="{B37572E5-D635-408F-AF65-D0E0523006F2}"/>
              </a:ext>
            </a:extLst>
          </p:cNvPr>
          <p:cNvSpPr>
            <a:spLocks noGrp="1"/>
          </p:cNvSpPr>
          <p:nvPr/>
        </p:nvSpPr>
        <p:spPr>
          <a:xfrm>
            <a:off x="4286250" y="5791200"/>
            <a:ext cx="71342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35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¹ 商品毛利单位：百万INR</a:t>
            </a:r>
          </a:p>
        </p:txBody>
      </p:sp>
    </p:spTree>
    <p:extLst>
      <p:ext uri="{BB962C8B-B14F-4D97-AF65-F5344CB8AC3E}">
        <p14:creationId xmlns:p14="http://schemas.microsoft.com/office/powerpoint/2010/main" val="771188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81000"/>
            <a:ext cx="10972800" cy="6286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150" b="1">
                <a:solidFill>
                  <a:srgbClr val="823C42"/>
                </a:solidFill>
                <a:latin typeface="Times New Roman"/>
                <a:ea typeface="SimSun"/>
                <a:cs typeface="Times New Roman"/>
              </a:defRPr>
            </a:pPr>
            <a:r>
              <a:rPr sz="3150" b="1">
                <a:solidFill>
                  <a:srgbClr val="823C42"/>
                </a:solidFill>
                <a:latin typeface="Times New Roman"/>
                <a:ea typeface="SimSun"/>
                <a:cs typeface="Times New Roman"/>
              </a:rPr>
              <a:t>后续监控关键指标，验证盈利改善</a:t>
            </a:r>
          </a:p>
        </p:txBody>
      </p:sp>
      <p:sp>
        <p:nvSpPr>
          <p:cNvPr id="3" name="后续监控指标"/>
          <p:cNvSpPr txBox="1"/>
          <p:nvPr/>
        </p:nvSpPr>
        <p:spPr>
          <a:xfrm>
            <a:off x="685800" y="1417320"/>
            <a:ext cx="4553712" cy="3931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823C42"/>
                </a:solidFill>
                <a:latin typeface="Times New Roman"/>
                <a:ea typeface="SimSun"/>
                <a:cs typeface="Times New Roman"/>
              </a:defRPr>
            </a:pPr>
            <a:r>
              <a:rPr sz="2250" b="1">
                <a:solidFill>
                  <a:srgbClr val="823C42"/>
                </a:solidFill>
                <a:latin typeface="Times New Roman"/>
                <a:ea typeface="SimSun"/>
                <a:cs typeface="Times New Roman"/>
              </a:rPr>
              <a:t>后续监控指标</a:t>
            </a:r>
          </a:p>
        </p:txBody>
      </p:sp>
      <p:sp>
        <p:nvSpPr>
          <p:cNvPr id="4" name="前五个SKU的折扣红线"/>
          <p:cNvSpPr txBox="1"/>
          <p:nvPr/>
        </p:nvSpPr>
        <p:spPr>
          <a:xfrm>
            <a:off x="5532120" y="1417320"/>
            <a:ext cx="5943600" cy="3931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250" b="1">
                <a:solidFill>
                  <a:srgbClr val="823C42"/>
                </a:solidFill>
                <a:latin typeface="Times New Roman"/>
                <a:ea typeface="SimSun"/>
                <a:cs typeface="Times New Roman"/>
              </a:defRPr>
            </a:pPr>
            <a:r>
              <a:rPr sz="2250" b="1">
                <a:solidFill>
                  <a:srgbClr val="823C42"/>
                </a:solidFill>
                <a:latin typeface="Times New Roman"/>
                <a:ea typeface="SimSun"/>
                <a:cs typeface="Times New Roman"/>
              </a:rPr>
              <a:t>前五个SKU的折扣红线</a:t>
            </a:r>
          </a:p>
        </p:txBody>
      </p:sp>
      <p:sp>
        <p:nvSpPr>
          <p:cNvPr id="5" name="2025年Delivered历史基线｜商品毛利：百万INR"/>
          <p:cNvSpPr txBox="1"/>
          <p:nvPr/>
        </p:nvSpPr>
        <p:spPr>
          <a:xfrm>
            <a:off x="5532120" y="1847088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5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2025年Delivered历史基线｜商品毛利：百万INR</a:t>
            </a:r>
          </a:p>
        </p:txBody>
      </p:sp>
      <p:cxnSp>
        <p:nvCxnSpPr>
          <p:cNvPr id="6" name="可编辑分隔线"/>
          <p:cNvCxnSpPr/>
          <p:nvPr/>
        </p:nvCxnSpPr>
        <p:spPr>
          <a:xfrm>
            <a:off x="5340096" y="1417320"/>
            <a:ext cx="0" cy="4681728"/>
          </a:xfrm>
          <a:prstGeom prst="line">
            <a:avLst/>
          </a:prstGeom>
          <a:ln w="7620">
            <a:solidFill>
              <a:srgbClr val="E3DE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可编辑图标_折扣"/>
          <p:cNvGrpSpPr/>
          <p:nvPr/>
        </p:nvGrpSpPr>
        <p:grpSpPr>
          <a:xfrm>
            <a:off x="685800" y="2089404"/>
            <a:ext cx="502920" cy="502920"/>
            <a:chOff x="685800" y="2089404"/>
            <a:chExt cx="502920" cy="502920"/>
          </a:xfrm>
        </p:grpSpPr>
        <p:sp>
          <p:nvSpPr>
            <p:cNvPr id="8" name="Oval 7"/>
            <p:cNvSpPr/>
            <p:nvPr/>
          </p:nvSpPr>
          <p:spPr>
            <a:xfrm>
              <a:off x="685800" y="2089404"/>
              <a:ext cx="502920" cy="502920"/>
            </a:xfrm>
            <a:prstGeom prst="ellipse">
              <a:avLst/>
            </a:prstGeom>
            <a:solidFill>
              <a:srgbClr val="F6F3F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31520" y="2135124"/>
              <a:ext cx="411480" cy="40233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2250" b="0">
                  <a:solidFill>
                    <a:srgbClr val="65615F"/>
                  </a:solidFill>
                  <a:latin typeface="Times New Roman"/>
                  <a:ea typeface="SimSun"/>
                  <a:cs typeface="Times New Roman"/>
                </a:rPr>
                <a:t>%</a:t>
              </a:r>
            </a:p>
          </p:txBody>
        </p:sp>
      </p:grpSp>
      <p:sp>
        <p:nvSpPr>
          <p:cNvPr id="10" name="折扣水平"/>
          <p:cNvSpPr txBox="1"/>
          <p:nvPr/>
        </p:nvSpPr>
        <p:spPr>
          <a:xfrm>
            <a:off x="1335024" y="2057400"/>
            <a:ext cx="3813048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42323"/>
                </a:solidFill>
                <a:latin typeface="Times New Roman"/>
                <a:ea typeface="SimSun"/>
                <a:cs typeface="Times New Roman"/>
              </a:defRPr>
            </a:pPr>
            <a:r>
              <a:rPr sz="2100" b="1">
                <a:solidFill>
                  <a:srgbClr val="242323"/>
                </a:solidFill>
                <a:latin typeface="Times New Roman"/>
                <a:ea typeface="SimSun"/>
                <a:cs typeface="Times New Roman"/>
              </a:rPr>
              <a:t>折扣水平</a:t>
            </a:r>
          </a:p>
        </p:txBody>
      </p:sp>
      <p:sp>
        <p:nvSpPr>
          <p:cNvPr id="11" name="加权折扣率 vs. 盈亏平衡折扣率&#10;折扣是否回到当期平衡线内？"/>
          <p:cNvSpPr txBox="1"/>
          <p:nvPr/>
        </p:nvSpPr>
        <p:spPr>
          <a:xfrm>
            <a:off x="1335024" y="2395728"/>
            <a:ext cx="381304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8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加权折扣率 vs. 盈亏平衡折扣率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8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折扣是否回到当期平衡线内？</a:t>
            </a:r>
          </a:p>
        </p:txBody>
      </p:sp>
      <p:cxnSp>
        <p:nvCxnSpPr>
          <p:cNvPr id="12" name="可编辑分隔线"/>
          <p:cNvCxnSpPr/>
          <p:nvPr/>
        </p:nvCxnSpPr>
        <p:spPr>
          <a:xfrm>
            <a:off x="685800" y="2976372"/>
            <a:ext cx="4462272" cy="0"/>
          </a:xfrm>
          <a:prstGeom prst="line">
            <a:avLst/>
          </a:prstGeom>
          <a:ln w="7620">
            <a:solidFill>
              <a:srgbClr val="E3DE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可编辑图标_毛利"/>
          <p:cNvGrpSpPr/>
          <p:nvPr/>
        </p:nvGrpSpPr>
        <p:grpSpPr>
          <a:xfrm>
            <a:off x="685800" y="3104388"/>
            <a:ext cx="502920" cy="502920"/>
            <a:chOff x="685800" y="3104388"/>
            <a:chExt cx="502920" cy="502920"/>
          </a:xfrm>
        </p:grpSpPr>
        <p:sp>
          <p:nvSpPr>
            <p:cNvPr id="14" name="Oval 13"/>
            <p:cNvSpPr/>
            <p:nvPr/>
          </p:nvSpPr>
          <p:spPr>
            <a:xfrm>
              <a:off x="685800" y="3104388"/>
              <a:ext cx="502920" cy="502920"/>
            </a:xfrm>
            <a:prstGeom prst="ellipse">
              <a:avLst/>
            </a:prstGeom>
            <a:solidFill>
              <a:srgbClr val="F6F3F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813816" y="3374136"/>
              <a:ext cx="60350" cy="109728"/>
            </a:xfrm>
            <a:prstGeom prst="rect">
              <a:avLst/>
            </a:prstGeom>
            <a:noFill/>
            <a:ln w="13335">
              <a:solidFill>
                <a:srgbClr val="65615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00684" y="3296412"/>
              <a:ext cx="60350" cy="187452"/>
            </a:xfrm>
            <a:prstGeom prst="rect">
              <a:avLst/>
            </a:prstGeom>
            <a:noFill/>
            <a:ln w="13335">
              <a:solidFill>
                <a:srgbClr val="65615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87552" y="3218688"/>
              <a:ext cx="60350" cy="265176"/>
            </a:xfrm>
            <a:prstGeom prst="rect">
              <a:avLst/>
            </a:prstGeom>
            <a:noFill/>
            <a:ln w="13335">
              <a:solidFill>
                <a:srgbClr val="65615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800100" y="3502152"/>
              <a:ext cx="278892" cy="0"/>
            </a:xfrm>
            <a:prstGeom prst="line">
              <a:avLst/>
            </a:prstGeom>
            <a:ln w="14604">
              <a:solidFill>
                <a:srgbClr val="65615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商品毛利"/>
          <p:cNvSpPr txBox="1"/>
          <p:nvPr/>
        </p:nvSpPr>
        <p:spPr>
          <a:xfrm>
            <a:off x="1335024" y="3072384"/>
            <a:ext cx="3813048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42323"/>
                </a:solidFill>
                <a:latin typeface="Times New Roman"/>
                <a:ea typeface="SimSun"/>
                <a:cs typeface="Times New Roman"/>
              </a:defRPr>
            </a:pPr>
            <a:r>
              <a:rPr sz="2100" b="1">
                <a:solidFill>
                  <a:srgbClr val="242323"/>
                </a:solidFill>
                <a:latin typeface="Times New Roman"/>
                <a:ea typeface="SimSun"/>
                <a:cs typeface="Times New Roman"/>
              </a:rPr>
              <a:t>商品毛利</a:t>
            </a:r>
          </a:p>
        </p:txBody>
      </p:sp>
      <p:sp>
        <p:nvSpPr>
          <p:cNvPr id="20" name="Gross Profit / Gross Margin&#10;毛利是否转正，毛利率是否"/>
          <p:cNvSpPr txBox="1"/>
          <p:nvPr/>
        </p:nvSpPr>
        <p:spPr>
          <a:xfrm>
            <a:off x="1335024" y="3410712"/>
            <a:ext cx="381304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8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Gross Profit / Gross Margin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8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毛利是否转正，毛利率是否改善？</a:t>
            </a:r>
          </a:p>
        </p:txBody>
      </p:sp>
      <p:cxnSp>
        <p:nvCxnSpPr>
          <p:cNvPr id="21" name="可编辑分隔线"/>
          <p:cNvCxnSpPr/>
          <p:nvPr/>
        </p:nvCxnSpPr>
        <p:spPr>
          <a:xfrm>
            <a:off x="685800" y="3991356"/>
            <a:ext cx="4462272" cy="0"/>
          </a:xfrm>
          <a:prstGeom prst="line">
            <a:avLst/>
          </a:prstGeom>
          <a:ln w="7620">
            <a:solidFill>
              <a:srgbClr val="E3DE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可编辑图标_亏损"/>
          <p:cNvGrpSpPr/>
          <p:nvPr/>
        </p:nvGrpSpPr>
        <p:grpSpPr>
          <a:xfrm>
            <a:off x="685800" y="4119372"/>
            <a:ext cx="502920" cy="502920"/>
            <a:chOff x="685800" y="4119372"/>
            <a:chExt cx="502920" cy="502920"/>
          </a:xfrm>
        </p:grpSpPr>
        <p:sp>
          <p:nvSpPr>
            <p:cNvPr id="23" name="Oval 22"/>
            <p:cNvSpPr/>
            <p:nvPr/>
          </p:nvSpPr>
          <p:spPr>
            <a:xfrm>
              <a:off x="685800" y="4119372"/>
              <a:ext cx="502920" cy="502920"/>
            </a:xfrm>
            <a:prstGeom prst="ellipse">
              <a:avLst/>
            </a:prstGeom>
            <a:solidFill>
              <a:srgbClr val="F6F3F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Can 23"/>
            <p:cNvSpPr/>
            <p:nvPr/>
          </p:nvSpPr>
          <p:spPr>
            <a:xfrm>
              <a:off x="832104" y="4233672"/>
              <a:ext cx="219456" cy="283464"/>
            </a:xfrm>
            <a:prstGeom prst="can">
              <a:avLst/>
            </a:prstGeom>
            <a:solidFill>
              <a:srgbClr val="F6F3F1"/>
            </a:solidFill>
            <a:ln w="13335">
              <a:solidFill>
                <a:srgbClr val="65615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833018" y="4384548"/>
              <a:ext cx="217627" cy="0"/>
            </a:xfrm>
            <a:prstGeom prst="line">
              <a:avLst/>
            </a:prstGeom>
            <a:ln w="14604">
              <a:solidFill>
                <a:srgbClr val="65615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25"/>
            <p:cNvCxnSpPr/>
            <p:nvPr/>
          </p:nvCxnSpPr>
          <p:spPr>
            <a:xfrm>
              <a:off x="833018" y="4448556"/>
              <a:ext cx="217627" cy="0"/>
            </a:xfrm>
            <a:prstGeom prst="line">
              <a:avLst/>
            </a:prstGeom>
            <a:ln w="14604">
              <a:solidFill>
                <a:srgbClr val="65615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亏损金额"/>
          <p:cNvSpPr txBox="1"/>
          <p:nvPr/>
        </p:nvSpPr>
        <p:spPr>
          <a:xfrm>
            <a:off x="1335024" y="4087368"/>
            <a:ext cx="3813048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42323"/>
                </a:solidFill>
                <a:latin typeface="Times New Roman"/>
                <a:ea typeface="SimSun"/>
                <a:cs typeface="Times New Roman"/>
              </a:defRPr>
            </a:pPr>
            <a:r>
              <a:rPr sz="2100" b="1">
                <a:solidFill>
                  <a:srgbClr val="242323"/>
                </a:solidFill>
                <a:latin typeface="Times New Roman"/>
                <a:ea typeface="SimSun"/>
                <a:cs typeface="Times New Roman"/>
              </a:rPr>
              <a:t>亏损金额</a:t>
            </a:r>
          </a:p>
        </p:txBody>
      </p:sp>
      <p:sp>
        <p:nvSpPr>
          <p:cNvPr id="28" name="亏损金额（绝对值）&#10;亏损是否持续收窄？"/>
          <p:cNvSpPr txBox="1"/>
          <p:nvPr/>
        </p:nvSpPr>
        <p:spPr>
          <a:xfrm>
            <a:off x="1335024" y="4425696"/>
            <a:ext cx="381304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8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亏损金额（绝对值）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8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亏损是否持续收窄？</a:t>
            </a:r>
          </a:p>
        </p:txBody>
      </p:sp>
      <p:cxnSp>
        <p:nvCxnSpPr>
          <p:cNvPr id="29" name="可编辑分隔线"/>
          <p:cNvCxnSpPr/>
          <p:nvPr/>
        </p:nvCxnSpPr>
        <p:spPr>
          <a:xfrm>
            <a:off x="685800" y="5006340"/>
            <a:ext cx="4462272" cy="0"/>
          </a:xfrm>
          <a:prstGeom prst="line">
            <a:avLst/>
          </a:prstGeom>
          <a:ln w="7620">
            <a:solidFill>
              <a:srgbClr val="E3DE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可编辑图标_销量"/>
          <p:cNvGrpSpPr/>
          <p:nvPr/>
        </p:nvGrpSpPr>
        <p:grpSpPr>
          <a:xfrm>
            <a:off x="685800" y="5134356"/>
            <a:ext cx="502920" cy="502920"/>
            <a:chOff x="685800" y="5134356"/>
            <a:chExt cx="502920" cy="502920"/>
          </a:xfrm>
        </p:grpSpPr>
        <p:sp>
          <p:nvSpPr>
            <p:cNvPr id="31" name="Oval 30"/>
            <p:cNvSpPr/>
            <p:nvPr/>
          </p:nvSpPr>
          <p:spPr>
            <a:xfrm>
              <a:off x="685800" y="5134356"/>
              <a:ext cx="502920" cy="502920"/>
            </a:xfrm>
            <a:prstGeom prst="ellipse">
              <a:avLst/>
            </a:prstGeom>
            <a:solidFill>
              <a:srgbClr val="F6F3F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2" name="Connector 31"/>
            <p:cNvCxnSpPr/>
            <p:nvPr/>
          </p:nvCxnSpPr>
          <p:spPr>
            <a:xfrm>
              <a:off x="768096" y="5266944"/>
              <a:ext cx="50292" cy="0"/>
            </a:xfrm>
            <a:prstGeom prst="line">
              <a:avLst/>
            </a:prstGeom>
            <a:ln w="14604">
              <a:solidFill>
                <a:srgbClr val="65615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>
              <a:off x="818388" y="5266944"/>
              <a:ext cx="50292" cy="219456"/>
            </a:xfrm>
            <a:prstGeom prst="line">
              <a:avLst/>
            </a:prstGeom>
            <a:ln w="14604">
              <a:solidFill>
                <a:srgbClr val="65615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 33"/>
            <p:cNvCxnSpPr/>
            <p:nvPr/>
          </p:nvCxnSpPr>
          <p:spPr>
            <a:xfrm>
              <a:off x="837590" y="5326380"/>
              <a:ext cx="255118" cy="0"/>
            </a:xfrm>
            <a:prstGeom prst="line">
              <a:avLst/>
            </a:prstGeom>
            <a:ln w="14604">
              <a:solidFill>
                <a:srgbClr val="65615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34"/>
            <p:cNvCxnSpPr/>
            <p:nvPr/>
          </p:nvCxnSpPr>
          <p:spPr>
            <a:xfrm flipH="1">
              <a:off x="1060704" y="5326380"/>
              <a:ext cx="32004" cy="118872"/>
            </a:xfrm>
            <a:prstGeom prst="line">
              <a:avLst/>
            </a:prstGeom>
            <a:ln w="14604">
              <a:solidFill>
                <a:srgbClr val="65615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35"/>
            <p:cNvCxnSpPr/>
            <p:nvPr/>
          </p:nvCxnSpPr>
          <p:spPr>
            <a:xfrm flipH="1">
              <a:off x="862279" y="5445252"/>
              <a:ext cx="198425" cy="0"/>
            </a:xfrm>
            <a:prstGeom prst="line">
              <a:avLst/>
            </a:prstGeom>
            <a:ln w="14604">
              <a:solidFill>
                <a:srgbClr val="65615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36"/>
            <p:cNvCxnSpPr/>
            <p:nvPr/>
          </p:nvCxnSpPr>
          <p:spPr>
            <a:xfrm>
              <a:off x="868680" y="5486400"/>
              <a:ext cx="187452" cy="0"/>
            </a:xfrm>
            <a:prstGeom prst="line">
              <a:avLst/>
            </a:prstGeom>
            <a:ln w="14604">
              <a:solidFill>
                <a:srgbClr val="65615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/>
            <p:cNvSpPr/>
            <p:nvPr/>
          </p:nvSpPr>
          <p:spPr>
            <a:xfrm>
              <a:off x="877824" y="5504688"/>
              <a:ext cx="41148" cy="41148"/>
            </a:xfrm>
            <a:prstGeom prst="ellipse">
              <a:avLst/>
            </a:prstGeom>
            <a:solidFill>
              <a:srgbClr val="65615F"/>
            </a:solidFill>
            <a:ln w="13335">
              <a:solidFill>
                <a:srgbClr val="65615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Oval 38"/>
            <p:cNvSpPr/>
            <p:nvPr/>
          </p:nvSpPr>
          <p:spPr>
            <a:xfrm>
              <a:off x="1014983" y="5504688"/>
              <a:ext cx="41148" cy="41148"/>
            </a:xfrm>
            <a:prstGeom prst="ellipse">
              <a:avLst/>
            </a:prstGeom>
            <a:solidFill>
              <a:srgbClr val="65615F"/>
            </a:solidFill>
            <a:ln w="13335">
              <a:solidFill>
                <a:srgbClr val="65615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40" name="收入与销量"/>
          <p:cNvSpPr txBox="1"/>
          <p:nvPr/>
        </p:nvSpPr>
        <p:spPr>
          <a:xfrm>
            <a:off x="1335024" y="5102352"/>
            <a:ext cx="3813048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242323"/>
                </a:solidFill>
                <a:latin typeface="Times New Roman"/>
                <a:ea typeface="SimSun"/>
                <a:cs typeface="Times New Roman"/>
              </a:defRPr>
            </a:pPr>
            <a:r>
              <a:rPr sz="2100" b="1">
                <a:solidFill>
                  <a:srgbClr val="242323"/>
                </a:solidFill>
                <a:latin typeface="Times New Roman"/>
                <a:ea typeface="SimSun"/>
                <a:cs typeface="Times New Roman"/>
              </a:rPr>
              <a:t>收入与销量</a:t>
            </a:r>
          </a:p>
        </p:txBody>
      </p:sp>
      <p:sp>
        <p:nvSpPr>
          <p:cNvPr id="41" name="Revenue / Quantity&#10;收入与销量是否出现明显下滑？"/>
          <p:cNvSpPr txBox="1"/>
          <p:nvPr/>
        </p:nvSpPr>
        <p:spPr>
          <a:xfrm>
            <a:off x="1335024" y="5440680"/>
            <a:ext cx="381304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8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Revenue / Quantity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80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收入与销量是否出现明显下滑？</a:t>
            </a:r>
          </a:p>
        </p:txBody>
      </p:sp>
      <p:sp>
        <p:nvSpPr>
          <p:cNvPr id="42" name="每周按SKU复查，对比调整前后等长窗口。"/>
          <p:cNvSpPr txBox="1"/>
          <p:nvPr/>
        </p:nvSpPr>
        <p:spPr>
          <a:xfrm>
            <a:off x="685800" y="6199632"/>
            <a:ext cx="4507992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35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每周按SKU复查，对比调整前后等长窗口。</a:t>
            </a:r>
          </a:p>
        </p:txBody>
      </p:sp>
      <p:graphicFrame>
        <p:nvGraphicFramePr>
          <p:cNvPr id="43" name="前五个SKU折扣监控数据表（原生可编辑）"/>
          <p:cNvGraphicFramePr>
            <a:graphicFrameLocks noGrp="1"/>
          </p:cNvGraphicFramePr>
          <p:nvPr/>
        </p:nvGraphicFramePr>
        <p:xfrm>
          <a:off x="5532120" y="2258568"/>
          <a:ext cx="5943600" cy="3191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75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575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SKU</a:t>
                      </a:r>
                    </a:p>
                  </a:txBody>
                  <a:tcPr marL="82296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6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75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575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盈亏平衡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75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575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折扣率</a:t>
                      </a:r>
                    </a:p>
                  </a:txBody>
                  <a:tcPr marL="50292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6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75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575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实际加权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75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575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折扣率</a:t>
                      </a:r>
                    </a:p>
                  </a:txBody>
                  <a:tcPr marL="50292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6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75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575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超出红线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75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575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（百分点）</a:t>
                      </a:r>
                    </a:p>
                  </a:txBody>
                  <a:tcPr marL="50292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6F3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75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575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2025年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575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575" b="1">
                          <a:solidFill>
                            <a:srgbClr val="65615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商品毛利</a:t>
                      </a:r>
                    </a:p>
                  </a:txBody>
                  <a:tcPr marL="50292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6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PROD10445</a:t>
                      </a:r>
                    </a:p>
                  </a:txBody>
                  <a:tcPr marL="82296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9.99%</a:t>
                      </a:r>
                    </a:p>
                  </a:txBody>
                  <a:tcPr marL="50292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14.17%</a:t>
                      </a:r>
                    </a:p>
                  </a:txBody>
                  <a:tcPr marL="50292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823C42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800" b="0">
                          <a:solidFill>
                            <a:srgbClr val="823C42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+4.18</a:t>
                      </a:r>
                    </a:p>
                  </a:txBody>
                  <a:tcPr marL="50292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-1.27</a:t>
                      </a:r>
                    </a:p>
                  </a:txBody>
                  <a:tcPr marL="50292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PROD10501</a:t>
                      </a:r>
                    </a:p>
                  </a:txBody>
                  <a:tcPr marL="82296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8.69%</a:t>
                      </a:r>
                    </a:p>
                  </a:txBody>
                  <a:tcPr marL="50292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13.20%</a:t>
                      </a:r>
                    </a:p>
                  </a:txBody>
                  <a:tcPr marL="50292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823C42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800" b="0">
                          <a:solidFill>
                            <a:srgbClr val="823C42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+4.51</a:t>
                      </a:r>
                    </a:p>
                  </a:txBody>
                  <a:tcPr marL="50292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-0.78</a:t>
                      </a:r>
                    </a:p>
                  </a:txBody>
                  <a:tcPr marL="50292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PROD10306</a:t>
                      </a:r>
                    </a:p>
                  </a:txBody>
                  <a:tcPr marL="82296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9.27%</a:t>
                      </a:r>
                    </a:p>
                  </a:txBody>
                  <a:tcPr marL="50292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12.51%</a:t>
                      </a:r>
                    </a:p>
                  </a:txBody>
                  <a:tcPr marL="50292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823C42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800" b="0">
                          <a:solidFill>
                            <a:srgbClr val="823C42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+3.24</a:t>
                      </a:r>
                    </a:p>
                  </a:txBody>
                  <a:tcPr marL="50292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-0.75</a:t>
                      </a:r>
                    </a:p>
                  </a:txBody>
                  <a:tcPr marL="50292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PROD10072</a:t>
                      </a:r>
                    </a:p>
                  </a:txBody>
                  <a:tcPr marL="82296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8.78%</a:t>
                      </a:r>
                    </a:p>
                  </a:txBody>
                  <a:tcPr marL="50292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13.33%</a:t>
                      </a:r>
                    </a:p>
                  </a:txBody>
                  <a:tcPr marL="50292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823C42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800" b="0">
                          <a:solidFill>
                            <a:srgbClr val="823C42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+4.55</a:t>
                      </a:r>
                    </a:p>
                  </a:txBody>
                  <a:tcPr marL="50292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-0.65</a:t>
                      </a:r>
                    </a:p>
                  </a:txBody>
                  <a:tcPr marL="50292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7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PROD10421</a:t>
                      </a:r>
                    </a:p>
                  </a:txBody>
                  <a:tcPr marL="82296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9.83%</a:t>
                      </a:r>
                    </a:p>
                  </a:txBody>
                  <a:tcPr marL="50292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12.42%</a:t>
                      </a:r>
                    </a:p>
                  </a:txBody>
                  <a:tcPr marL="50292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823C42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800" b="0">
                          <a:solidFill>
                            <a:srgbClr val="823C42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+2.59</a:t>
                      </a:r>
                    </a:p>
                  </a:txBody>
                  <a:tcPr marL="50292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defRPr>
                      </a:pPr>
                      <a:r>
                        <a:rPr sz="1800" b="0">
                          <a:solidFill>
                            <a:srgbClr val="242323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-0.55</a:t>
                      </a:r>
                    </a:p>
                  </a:txBody>
                  <a:tcPr marL="50292" marR="45720" marT="22860" marB="22860" anchor="ctr">
                    <a:lnL w="0">
                      <a:noFill/>
                    </a:lnL>
                    <a:lnR w="0">
                      <a:noFill/>
                    </a:lnR>
                    <a:lnT w="7620">
                      <a:solidFill>
                        <a:srgbClr val="E3DED9"/>
                      </a:solidFill>
                      <a:prstDash val="solid"/>
                    </a:lnT>
                    <a:lnB w="7620">
                      <a:solidFill>
                        <a:srgbClr val="E3DED9"/>
                      </a:solidFill>
                      <a:prstDash val="soli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4" name="注：盈亏平衡折扣率仅覆盖商品成本，并非建议促销折扣上限。&#10;需结合当期成本、折前售"/>
          <p:cNvSpPr txBox="1"/>
          <p:nvPr/>
        </p:nvSpPr>
        <p:spPr>
          <a:xfrm>
            <a:off x="5532120" y="5641848"/>
            <a:ext cx="594360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35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注：盈亏平衡折扣率仅覆盖商品成本，并非建议促销折扣上限。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350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需结合当期成本、折前售价与销售组合重新计算。</a:t>
            </a:r>
          </a:p>
        </p:txBody>
      </p:sp>
      <p:sp>
        <p:nvSpPr>
          <p:cNvPr id="45" name="10"/>
          <p:cNvSpPr txBox="1"/>
          <p:nvPr/>
        </p:nvSpPr>
        <p:spPr>
          <a:xfrm>
            <a:off x="11163299" y="6343650"/>
            <a:ext cx="381000" cy="24764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defRPr>
            </a:pPr>
            <a:r>
              <a:rPr sz="1275" b="0">
                <a:solidFill>
                  <a:srgbClr val="65615F"/>
                </a:solidFill>
                <a:latin typeface="Times New Roman"/>
                <a:ea typeface="SimSun"/>
                <a:cs typeface="Times New Roman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170526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Quiet Editorial">
      <a:dk1>
        <a:srgbClr val="242323"/>
      </a:dk1>
      <a:lt1>
        <a:srgbClr val="FFFFFF"/>
      </a:lt1>
      <a:dk2>
        <a:srgbClr val="43282E"/>
      </a:dk2>
      <a:lt2>
        <a:srgbClr val="E6E1DD"/>
      </a:lt2>
      <a:accent1>
        <a:srgbClr val="823C42"/>
      </a:accent1>
      <a:accent2>
        <a:srgbClr val="B7B3AF"/>
      </a:accent2>
      <a:accent3>
        <a:srgbClr val="627574"/>
      </a:accent3>
      <a:accent4>
        <a:srgbClr val="9A8677"/>
      </a:accent4>
      <a:accent5>
        <a:srgbClr val="B9ACA0"/>
      </a:accent5>
      <a:accent6>
        <a:srgbClr val="677681"/>
      </a:accent6>
      <a:hlink>
        <a:srgbClr val="823C42"/>
      </a:hlink>
      <a:folHlink>
        <a:srgbClr val="823C42"/>
      </a:folHlink>
    </a:clrScheme>
    <a:fontScheme name="Office">
      <a:majorFont>
        <a:latin typeface="Times New Roman"/>
        <a:ea typeface="SimSun"/>
        <a:cs typeface="Times New Roman"/>
      </a:majorFont>
      <a:minorFont>
        <a:latin typeface="Times New Roman"/>
        <a:ea typeface="SimSun"/>
        <a:cs typeface="Times New Roman"/>
      </a:minorFont>
    </a:fontScheme>
    <a:fmtScheme name="Quiet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Quiet Editorial">
      <a:dk1>
        <a:srgbClr val="242323"/>
      </a:dk1>
      <a:lt1>
        <a:srgbClr val="FFFFFF"/>
      </a:lt1>
      <a:dk2>
        <a:srgbClr val="43282E"/>
      </a:dk2>
      <a:lt2>
        <a:srgbClr val="E6E1DD"/>
      </a:lt2>
      <a:accent1>
        <a:srgbClr val="823C42"/>
      </a:accent1>
      <a:accent2>
        <a:srgbClr val="B7B3AF"/>
      </a:accent2>
      <a:accent3>
        <a:srgbClr val="627574"/>
      </a:accent3>
      <a:accent4>
        <a:srgbClr val="9A8677"/>
      </a:accent4>
      <a:accent5>
        <a:srgbClr val="B9ACA0"/>
      </a:accent5>
      <a:accent6>
        <a:srgbClr val="677681"/>
      </a:accent6>
      <a:hlink>
        <a:srgbClr val="823C42"/>
      </a:hlink>
      <a:folHlink>
        <a:srgbClr val="823C42"/>
      </a:folHlink>
    </a:clrScheme>
    <a:fontScheme name="Office">
      <a:majorFont>
        <a:latin typeface="Times New Roman"/>
        <a:ea typeface="SimSun"/>
        <a:cs typeface="Times New Roman"/>
      </a:majorFont>
      <a:minorFont>
        <a:latin typeface="Times New Roman"/>
        <a:ea typeface="SimSun"/>
        <a:cs typeface="Times New Roman"/>
      </a:minorFont>
    </a:fontScheme>
    <a:fmtScheme name="Quiet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1317</Words>
  <Application>Microsoft Macintosh PowerPoint</Application>
  <DocSecurity>0</DocSecurity>
  <PresentationFormat>宽屏</PresentationFormat>
  <Paragraphs>211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2" baseType="lpstr"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2025年电商增长质量与商品盈利分析</dc:title>
  <dc:subject>增长来源、商品毛利、SKU折扣判断与监控</dc:subject>
  <dc:creator/>
  <cp:keywords>Delivered;2025;Electronics;SKU;商品成本盈亏平衡折扣率</cp:keywords>
  <cp:lastModifiedBy/>
  <cp:revision>2</cp:revision>
  <dcterms:created xsi:type="dcterms:W3CDTF">2026-09-10T06:52:41Z</dcterms:created>
  <dcterms:modified xsi:type="dcterms:W3CDTF">2026-09-10T09:58:04Z</dcterms:modified>
</cp:coreProperties>
</file>